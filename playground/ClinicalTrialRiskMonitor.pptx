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0bc7cc2a60a4c9e" /><Relationship Type="http://schemas.openxmlformats.org/package/2006/relationships/metadata/core-properties" Target="/docProps/core.xml" Id="R4b9f8aa6088844b6" /><Relationship Type="http://schemas.openxmlformats.org/officeDocument/2006/relationships/extended-properties" Target="/docProps/app.xml" Id="R6973daa1b5bd400f" /><Relationship Type="http://schemas.openxmlformats.org/officeDocument/2006/relationships/custom-properties" Target="/docProps/custom.xml" Id="Rc064b476b0ea42f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baa958d44e614813"/>
  </p:notesMasterIdLst>
  <p:sldIdLst>
    <p:sldId id="256" r:id="R6e6e242086244730"/>
    <p:sldId id="257" r:id="Raa0f0340ba374d28"/>
    <p:sldId id="258" r:id="R9fa4e96ab0574f66"/>
    <p:sldId id="259" r:id="R077f8e5f4fc04b09"/>
    <p:sldId id="260" r:id="R812662b054be4d7e"/>
    <p:sldId id="261" r:id="R27961f6c420c4f9d"/>
    <p:sldId id="262" r:id="Rc8b74bcabefa41f6"/>
    <p:sldId id="263" r:id="R5cb7e537b926471b"/>
    <p:sldId id="264" r:id="R280592d3141b4f62"/>
    <p:sldId id="265" r:id="R0e757bb197ec4cc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6e6e242086244730" /><Relationship Type="http://schemas.openxmlformats.org/officeDocument/2006/relationships/notesMaster" Target="/ppt/notesMasters/notesMaster1.xml" Id="Rbaa958d44e614813" /><Relationship Type="http://schemas.openxmlformats.org/officeDocument/2006/relationships/slide" Target="/ppt/slides/slide2.xml" Id="Raa0f0340ba374d28" /><Relationship Type="http://schemas.openxmlformats.org/officeDocument/2006/relationships/slide" Target="/ppt/slides/slide3.xml" Id="R9fa4e96ab0574f66" /><Relationship Type="http://schemas.openxmlformats.org/officeDocument/2006/relationships/slide" Target="/ppt/slides/slide4.xml" Id="R077f8e5f4fc04b09" /><Relationship Type="http://schemas.openxmlformats.org/officeDocument/2006/relationships/slide" Target="/ppt/slides/slide5.xml" Id="R812662b054be4d7e" /><Relationship Type="http://schemas.openxmlformats.org/officeDocument/2006/relationships/slide" Target="/ppt/slides/slide6.xml" Id="R27961f6c420c4f9d" /><Relationship Type="http://schemas.openxmlformats.org/officeDocument/2006/relationships/slide" Target="/ppt/slides/slide7.xml" Id="Rc8b74bcabefa41f6" /><Relationship Type="http://schemas.openxmlformats.org/officeDocument/2006/relationships/slide" Target="/ppt/slides/slide8.xml" Id="R5cb7e537b926471b" /><Relationship Type="http://schemas.openxmlformats.org/officeDocument/2006/relationships/slide" Target="/ppt/slides/slide9.xml" Id="R280592d3141b4f62" /><Relationship Type="http://schemas.openxmlformats.org/officeDocument/2006/relationships/slide" Target="/ppt/slides/slide10.xml" Id="R0e757bb197ec4c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266b7af7797402c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ac8273ea8ef40a8" /><Relationship Type="http://schemas.openxmlformats.org/officeDocument/2006/relationships/slide" Target="/ppt/slides/slide1.xml" Id="R12a5b9f32d6741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ee81078e6bc4357" /><Relationship Type="http://schemas.openxmlformats.org/officeDocument/2006/relationships/slide" Target="/ppt/slides/slide2.xml" Id="R79806e8709ff49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c5b39083bdd497b" /><Relationship Type="http://schemas.openxmlformats.org/officeDocument/2006/relationships/slide" Target="/ppt/slides/slide3.xml" Id="R7edeaf6f775140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dfcbf2082be4eeb" /><Relationship Type="http://schemas.openxmlformats.org/officeDocument/2006/relationships/slide" Target="/ppt/slides/slide4.xml" Id="Ra7474d52c2f547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790a6a274674174" /><Relationship Type="http://schemas.openxmlformats.org/officeDocument/2006/relationships/slide" Target="/ppt/slides/slide5.xml" Id="R759e65e51bd14e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7f4415774d84c6f" /><Relationship Type="http://schemas.openxmlformats.org/officeDocument/2006/relationships/slide" Target="/ppt/slides/slide6.xml" Id="R55b8dcb46c3349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2b5ad7a7bfa4dc6" /><Relationship Type="http://schemas.openxmlformats.org/officeDocument/2006/relationships/slide" Target="/ppt/slides/slide7.xml" Id="R30ae47b419c847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4014c0094054a81" /><Relationship Type="http://schemas.openxmlformats.org/officeDocument/2006/relationships/slide" Target="/ppt/slides/slide8.xml" Id="R0a6a8b4866a74b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64fdd84f3e648eb" /><Relationship Type="http://schemas.openxmlformats.org/officeDocument/2006/relationships/slide" Target="/ppt/slides/slide9.xml" Id="R3fb4c99cdef942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a994a6435494210" /><Relationship Type="http://schemas.openxmlformats.org/officeDocument/2006/relationships/slide" Target="/ppt/slides/slide10.xml" Id="Raef0ef7b3eaa43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Introduce the team and the problem domain: Pharma &amp; Biotech — a P1 (Critical) challenge. Set the stakes upfront: a single rejected FDA submission delays drug approval 6-12 months and costs $50-100M.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Explain the core pain: deviations go undetected until the FDA audit. There are three main deviation types. Highlight the cost of a single rejected submission. The ask from risk managers is real-time visibility.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Overview of the 6 core pillars of the solution. Emphasise that this is a zero-dependency, browser-based app — judges can open it immediately. Each pillar maps directly to a requirement in the problem statement.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through each of the 5 deviation rules. Emphasise that Major deviations trigger immediate CAPA and IRB notification — this is what saves the FDA submission. The visit window check is now per-window (Day 0, Week 2, Month 1, Month 3), matching the protocol exactly.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GCP classifier takes the triage score and maps it to CTCAE grades. This is the regulatory heart of the solution — it tells the clinical team exactly what they must report, to whom, and by when. Grade 3+ auto-triggers a CAPA.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site risk score is the key output for risk managers. It aggregates deviation rate, patient severity, growth velocity, and CAPA compliance into a single 0-100 score per site. HIGH risk sites get prescriptive actions — freeze enrolment, audit within 72h.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CAPA module is what makes this FDA-ready. Auto-generation from triage severity means no deviation is ever silently dropped. The audit trail is immutable and scoped — FDA users see cross-hospital; hospital users see only their own.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Role-based access is key for both compliance and demo impact. Show the judges the FDA auditor login first — it reveals the full picture. Then switch to a hospital login to show the scoped view. The audit trail persists across the session.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Requirement-by-requirement mapping. Use this slide to answer the judge's question 'how does your solution address the brief?' Point to each row in turn.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Close with the demo cue. Tell the judges to open the file themselves — the whole solution runs in the browser with no server. Walk them through: FDA login first, then Protocol Deviations page, then Site Risk Monitor, then export the CAPA report.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1c1aff2bf544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38810cab26401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0894a023944b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85f574d95748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7d360b48494d47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1bea1d2043f4a9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fe240ec104313" /><Relationship Type="http://schemas.openxmlformats.org/officeDocument/2006/relationships/notesSlide" Target="/ppt/notesSlides/notesSlide1.xml" Id="R3348a8a2388047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e5329864d45c9" /><Relationship Type="http://schemas.openxmlformats.org/officeDocument/2006/relationships/notesSlide" Target="/ppt/notesSlides/notesSlide2.xml" Id="R72a19aff73ce45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cabcbb716480d" /><Relationship Type="http://schemas.openxmlformats.org/officeDocument/2006/relationships/notesSlide" Target="/ppt/notesSlides/notesSlide3.xml" Id="Ra8b6c1e108ef42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61aa3c731413b" /><Relationship Type="http://schemas.openxmlformats.org/officeDocument/2006/relationships/notesSlide" Target="/ppt/notesSlides/notesSlide4.xml" Id="R61441dc79f3348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1cbc1ba844b19" /><Relationship Type="http://schemas.openxmlformats.org/officeDocument/2006/relationships/notesSlide" Target="/ppt/notesSlides/notesSlide5.xml" Id="Rfb541557658846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e19cd35414330" /><Relationship Type="http://schemas.openxmlformats.org/officeDocument/2006/relationships/notesSlide" Target="/ppt/notesSlides/notesSlide6.xml" Id="R353bab9e47a44f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52838d4174258" /><Relationship Type="http://schemas.openxmlformats.org/officeDocument/2006/relationships/notesSlide" Target="/ppt/notesSlides/notesSlide7.xml" Id="R70a26961be6c47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894b2dfea4d03" /><Relationship Type="http://schemas.openxmlformats.org/officeDocument/2006/relationships/notesSlide" Target="/ppt/notesSlides/notesSlide8.xml" Id="Rbd29f346fc6045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35307859947b5" /><Relationship Type="http://schemas.openxmlformats.org/officeDocument/2006/relationships/notesSlide" Target="/ppt/notesSlides/notesSlide9.xml" Id="Rceab3af9c0354e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87db278f74a4f" /><Relationship Type="http://schemas.openxmlformats.org/officeDocument/2006/relationships/notesSlide" Target="/ppt/notesSlides/notesSlide10.xml" Id="R5e5836d8b6a94f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330"/>
        </a:solidFill>
      </p:bgPr>
    </p:bg>
    <p:spTree>
      <p:nvGrpSpPr>
        <p:cNvPr id="1" name=""/>
        <p:cNvGrpSpPr/>
        <p:nvPr/>
      </p:nvGrpSpPr>
      <p:grpSpPr/>
      <p:sp>
        <p:nvSpPr>
          <p:cNvPr id="100000" name="Tag"/>
          <p:cNvSpPr txBox="1"/>
          <p:nvPr/>
        </p:nvSpPr>
        <p:spPr>
          <a:xfrm xmlns:a="http://schemas.openxmlformats.org/drawingml/2006/main">
            <a:off x="720000" y="648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3B82D4"/>
                </a:solidFill>
              </a:rPr>
              <a:t>PHARMA &amp; BIOTECH — P1 CRITICAL</a:t>
            </a:r>
          </a:p>
        </p:txBody>
      </p:sp>
      <p:sp>
        <p:nvSpPr>
          <p:cNvPr id="100001" name="Title"/>
          <p:cNvSpPr txBox="1"/>
          <p:nvPr/>
        </p:nvSpPr>
        <p:spPr>
          <a:xfrm xmlns:a="http://schemas.openxmlformats.org/drawingml/2006/main">
            <a:off x="720000" y="1008000"/>
            <a:ext cx="10440000" cy="1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FFFFF"/>
                </a:solidFill>
              </a:rPr>
              <a:t>Clinical Trial Risk Monitor</a:t>
            </a:r>
          </a:p>
          <a:p xmlns:a="http://schemas.openxmlformats.org/drawingml/2006/main">
            <a:pPr algn="l"/>
            <a:r>
              <a:rPr lang="en-US" sz="4000" b="1">
                <a:solidFill>
                  <a:srgbClr val="FFFFFF"/>
                </a:solidFill>
              </a:rPr>
              <a:t>&amp; Protocol Deviation Detector</a:t>
            </a:r>
          </a:p>
        </p:txBody>
      </p:sp>
      <p:sp>
        <p:nvSpPr>
          <p:cNvPr id="100002" name="Sub"/>
          <p:cNvSpPr txBox="1"/>
          <p:nvPr/>
        </p:nvSpPr>
        <p:spPr>
          <a:xfrm xmlns:a="http://schemas.openxmlformats.org/drawingml/2006/main">
            <a:off x="720000" y="2880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8B949E"/>
                </a:solidFill>
              </a:rPr>
              <a:t>Real-time ICH E6 GCP compliance · Site-level risk scoring · CAPA-ready reports</a:t>
            </a:r>
          </a:p>
        </p:txBody>
      </p:sp>
      <p:sp>
        <p:nvSpPr>
          <p:cNvPr id="100003" name="Stats"/>
          <p:cNvSpPr txBox="1"/>
          <p:nvPr/>
        </p:nvSpPr>
        <p:spPr>
          <a:xfrm xmlns:a="http://schemas.openxmlformats.org/drawingml/2006/main">
            <a:off x="720000" y="3672000"/>
            <a:ext cx="104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DC2626"/>
                </a:solidFill>
              </a:rPr>
              <a:t>5,000+ Patient Visits   ·   200+ Sites   ·   $50–100M Rejection Cost</a:t>
            </a:r>
          </a:p>
        </p:txBody>
      </p:sp>
      <p:sp>
        <p:nvSpPr>
          <p:cNvPr id="100004" name="Team"/>
          <p:cNvSpPr txBox="1"/>
          <p:nvPr/>
        </p:nvSpPr>
        <p:spPr>
          <a:xfrm xmlns:a="http://schemas.openxmlformats.org/drawingml/2006/main">
            <a:off x="720000" y="5940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 b="0">
                <a:solidFill>
                  <a:srgbClr val="484F58"/>
                </a:solidFill>
              </a:rPr>
              <a:t>Solution built with IBM Bob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5" name="Accent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06" name="Title"/>
          <p:cNvSpPr txBox="1"/>
          <p:nvPr/>
        </p:nvSpPr>
        <p:spPr>
          <a:xfrm xmlns:a="http://schemas.openxmlformats.org/drawingml/2006/main">
            <a:off x="540000" y="360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200" b="1">
                <a:solidFill>
                  <a:srgbClr val="1E2330"/>
                </a:solidFill>
              </a:rPr>
              <a:t>The Problem</a:t>
            </a:r>
          </a:p>
        </p:txBody>
      </p:sp>
      <p:sp>
        <p:nvSpPr>
          <p:cNvPr id="100007" name="Context"/>
          <p:cNvSpPr txBox="1"/>
          <p:nvPr/>
        </p:nvSpPr>
        <p:spPr>
          <a:xfrm xmlns:a="http://schemas.openxmlformats.org/drawingml/2006/main">
            <a:off x="540000" y="1080000"/>
            <a:ext cx="108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1F2328"/>
                </a:solidFill>
              </a:rPr>
              <a:t>A major clinical trial has 5,000+ patient visits across 200+ sites. Protocol deviations — missed visits, wrong dosing, banned co-medications — go undetected until the FDA audit.</a:t>
            </a:r>
          </a:p>
        </p:txBody>
      </p:sp>
      <p:sp>
        <p:nvSpPr>
          <p:cNvPr id="100008" name="Box1"/>
          <p:cNvSpPr txBox="1"/>
          <p:nvPr/>
        </p:nvSpPr>
        <p:spPr>
          <a:xfrm xmlns:a="http://schemas.openxmlformats.org/drawingml/2006/main">
            <a:off x="540000" y="2160000"/>
            <a:ext cx="342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C2410C"/>
                </a:solidFill>
              </a:rPr>
              <a:t>⚠ Missed Visits</a:t>
            </a:r>
          </a:p>
          <a:p xmlns:a="http://schemas.openxmlformats.org/drawingml/2006/main">
            <a:r>
              <a:rPr lang="en-US" sz="1400" b="0">
                <a:solidFill>
                  <a:srgbClr val="C2410C"/>
                </a:solidFill>
              </a:rPr>
              <a:t>Patients miss scheduled protocol windows (Day 0, Week 2, Month 1, Month 3) — no automated flag exists</a:t>
            </a:r>
          </a:p>
        </p:txBody>
      </p:sp>
      <p:sp>
        <p:nvSpPr>
          <p:cNvPr id="100009" name="Box2"/>
          <p:cNvSpPr txBox="1"/>
          <p:nvPr/>
        </p:nvSpPr>
        <p:spPr>
          <a:xfrm xmlns:a="http://schemas.openxmlformats.org/drawingml/2006/main">
            <a:off x="4140000" y="2160000"/>
            <a:ext cx="342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D4ED8"/>
                </a:solidFill>
              </a:rPr>
              <a:t>💊 Wrong Dosing</a:t>
            </a:r>
          </a:p>
          <a:p xmlns:a="http://schemas.openxmlformats.org/drawingml/2006/main">
            <a:r>
              <a:rPr lang="en-US" sz="1400" b="0">
                <a:solidFill>
                  <a:srgbClr val="1D4ED8"/>
                </a:solidFill>
              </a:rPr>
              <a:t>Patients dosed when SpO₂ &lt; 94%, Temp &gt; 38°C, or BP outside 90–160 mmHg — protocol violation</a:t>
            </a:r>
          </a:p>
        </p:txBody>
      </p:sp>
      <p:sp>
        <p:nvSpPr>
          <p:cNvPr id="100010" name="Box3"/>
          <p:cNvSpPr txBox="1"/>
          <p:nvPr/>
        </p:nvSpPr>
        <p:spPr>
          <a:xfrm xmlns:a="http://schemas.openxmlformats.org/drawingml/2006/main">
            <a:off x="7740000" y="2160000"/>
            <a:ext cx="342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DC2626"/>
                </a:solidFill>
              </a:rPr>
              <a:t>🚫 Banned Co-Meds</a:t>
            </a:r>
          </a:p>
          <a:p xmlns:a="http://schemas.openxmlformats.org/drawingml/2006/main">
            <a:r>
              <a:rPr lang="en-US" sz="1400" b="0">
                <a:solidFill>
                  <a:srgbClr val="DC2626"/>
                </a:solidFill>
              </a:rPr>
              <a:t>Warfarin, MAOIs, Methotrexate administered alongside trial drug — patient safety risk</a:t>
            </a:r>
          </a:p>
        </p:txBody>
      </p:sp>
      <p:sp>
        <p:nvSpPr>
          <p:cNvPr id="100011" name="Cost"/>
          <p:cNvSpPr txBox="1"/>
          <p:nvPr/>
        </p:nvSpPr>
        <p:spPr>
          <a:xfrm xmlns:a="http://schemas.openxmlformats.org/drawingml/2006/main">
            <a:off x="540000" y="4140000"/>
            <a:ext cx="1080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DC2626"/>
                </a:solidFill>
              </a:rPr>
              <a:t>❌  A single rejected FDA submission = 6–12 month delay + $50–100M loss</a:t>
            </a:r>
          </a:p>
        </p:txBody>
      </p:sp>
      <p:sp>
        <p:nvSpPr>
          <p:cNvPr id="100012" name="Need"/>
          <p:cNvSpPr txBox="1"/>
          <p:nvPr/>
        </p:nvSpPr>
        <p:spPr>
          <a:xfrm xmlns:a="http://schemas.openxmlformats.org/drawingml/2006/main">
            <a:off x="540000" y="4860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57606A"/>
                </a:solidFill>
              </a:rPr>
              <a:t>Risk managers need real-time visibility into which sites are highest risk before problems escalate.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3" name="Accent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14" name="Title"/>
          <p:cNvSpPr txBox="1"/>
          <p:nvPr/>
        </p:nvSpPr>
        <p:spPr>
          <a:xfrm xmlns:a="http://schemas.openxmlformats.org/drawingml/2006/main">
            <a:off x="540000" y="360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200" b="1">
                <a:solidFill>
                  <a:srgbClr val="1E2330"/>
                </a:solidFill>
              </a:rPr>
              <a:t>Our Solution — MedTrack Dashboard</a:t>
            </a:r>
          </a:p>
        </p:txBody>
      </p:sp>
      <p:sp>
        <p:nvSpPr>
          <p:cNvPr id="100015" name="Sub"/>
          <p:cNvSpPr txBox="1"/>
          <p:nvPr/>
        </p:nvSpPr>
        <p:spPr>
          <a:xfrm xmlns:a="http://schemas.openxmlformats.org/drawingml/2006/main">
            <a:off x="540000" y="1008000"/>
            <a:ext cx="108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57606A"/>
                </a:solidFill>
              </a:rPr>
              <a:t>A fully client-side HTML dashboard built with IBM Bob — no server required, opens in any browser</a:t>
            </a:r>
          </a:p>
        </p:txBody>
      </p:sp>
      <p:sp>
        <p:nvSpPr>
          <p:cNvPr id="100016" name="F1"/>
          <p:cNvSpPr txBox="1"/>
          <p:nvPr/>
        </p:nvSpPr>
        <p:spPr>
          <a:xfrm xmlns:a="http://schemas.openxmlformats.org/drawingml/2006/main">
            <a:off x="540000" y="1512000"/>
            <a:ext cx="50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🔍  Protocol Deviation Detector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Compares every patient record against Trial P1-CT-2025 spec in real time</a:t>
            </a:r>
          </a:p>
        </p:txBody>
      </p:sp>
      <p:sp>
        <p:nvSpPr>
          <p:cNvPr id="100017" name="F2"/>
          <p:cNvSpPr txBox="1"/>
          <p:nvPr/>
        </p:nvSpPr>
        <p:spPr>
          <a:xfrm xmlns:a="http://schemas.openxmlformats.org/drawingml/2006/main">
            <a:off x="6120000" y="1512000"/>
            <a:ext cx="50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📊  ICH E6 GCP Classifier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Auto-classifies each deviation: Major / Minor / Administrative with CTCAE grading</a:t>
            </a:r>
          </a:p>
        </p:txBody>
      </p:sp>
      <p:sp>
        <p:nvSpPr>
          <p:cNvPr id="100018" name="F3"/>
          <p:cNvSpPr txBox="1"/>
          <p:nvPr/>
        </p:nvSpPr>
        <p:spPr>
          <a:xfrm xmlns:a="http://schemas.openxmlformats.org/drawingml/2006/main">
            <a:off x="540000" y="2808000"/>
            <a:ext cx="50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📈  Site Risk Scorecard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Scores each site using 4 leading indicators: deviation rate, critical concentration, velocity, CAPA overdue rate</a:t>
            </a:r>
          </a:p>
        </p:txBody>
      </p:sp>
      <p:sp>
        <p:nvSpPr>
          <p:cNvPr id="100019" name="F4"/>
          <p:cNvSpPr txBox="1"/>
          <p:nvPr/>
        </p:nvSpPr>
        <p:spPr>
          <a:xfrm xmlns:a="http://schemas.openxmlformats.org/drawingml/2006/main">
            <a:off x="6120000" y="2808000"/>
            <a:ext cx="50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📋  CAPA-Ready Reports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One-click export of deviation registry with recommended mitigations, ICH references and priority timelines</a:t>
            </a:r>
          </a:p>
        </p:txBody>
      </p:sp>
      <p:sp>
        <p:nvSpPr>
          <p:cNvPr id="100020" name="F5"/>
          <p:cNvSpPr txBox="1"/>
          <p:nvPr/>
        </p:nvSpPr>
        <p:spPr>
          <a:xfrm xmlns:a="http://schemas.openxmlformats.org/drawingml/2006/main">
            <a:off x="540000" y="4104000"/>
            <a:ext cx="50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🏥  Dual Role Access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Hospital staff see own patients · FDA auditors get full cross-hospital audit view + immutable audit trail</a:t>
            </a:r>
          </a:p>
        </p:txBody>
      </p:sp>
      <p:sp>
        <p:nvSpPr>
          <p:cNvPr id="100021" name="F6"/>
          <p:cNvSpPr txBox="1"/>
          <p:nvPr/>
        </p:nvSpPr>
        <p:spPr>
          <a:xfrm xmlns:a="http://schemas.openxmlformats.org/drawingml/2006/main">
            <a:off x="6120000" y="4104000"/>
            <a:ext cx="50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🔔  Automated Reminders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Pre-admission (−1 day) and post-treatment (+2 day) reminders auto-generated per patient severity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2" name="Accent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23" name="Title"/>
          <p:cNvSpPr txBox="1"/>
          <p:nvPr/>
        </p:nvSpPr>
        <p:spPr>
          <a:xfrm xmlns:a="http://schemas.openxmlformats.org/drawingml/2006/main">
            <a:off x="540000" y="360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200" b="1">
                <a:solidFill>
                  <a:srgbClr val="1E2330"/>
                </a:solidFill>
              </a:rPr>
              <a:t>Protocol Deviation Detector</a:t>
            </a:r>
          </a:p>
        </p:txBody>
      </p:sp>
      <p:sp>
        <p:nvSpPr>
          <p:cNvPr id="100024" name="Sub"/>
          <p:cNvSpPr txBox="1"/>
          <p:nvPr/>
        </p:nvSpPr>
        <p:spPr>
          <a:xfrm xmlns:a="http://schemas.openxmlformats.org/drawingml/2006/main">
            <a:off x="540000" y="972000"/>
            <a:ext cx="108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57606A"/>
                </a:solidFill>
              </a:rPr>
              <a:t>Every patient record is evaluated against Trial P1-CT-2025 spec — deviations flagged instantly</a:t>
            </a:r>
          </a:p>
        </p:txBody>
      </p:sp>
      <p:sp>
        <p:nvSpPr>
          <p:cNvPr id="100025" name="Rule1H"/>
          <p:cNvSpPr txBox="1"/>
          <p:nvPr/>
        </p:nvSpPr>
        <p:spPr>
          <a:xfrm xmlns:a="http://schemas.openxmlformats.org/drawingml/2006/main">
            <a:off x="540000" y="1440000"/>
            <a:ext cx="108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DC2626"/>
                </a:solidFill>
              </a:rPr>
              <a:t>MAJOR</a:t>
            </a:r>
          </a:p>
        </p:txBody>
      </p:sp>
      <p:sp>
        <p:nvSpPr>
          <p:cNvPr id="100026" name="Rule1"/>
          <p:cNvSpPr txBox="1"/>
          <p:nvPr/>
        </p:nvSpPr>
        <p:spPr>
          <a:xfrm xmlns:a="http://schemas.openxmlformats.org/drawingml/2006/main">
            <a:off x="1800000" y="1440000"/>
            <a:ext cx="936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Banned Co-Medication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Patient on warfarin/MAOIs/methotrexate while in trial → immediate CAPA, sponsor &amp; IRB notification within 24–72h</a:t>
            </a:r>
          </a:p>
        </p:txBody>
      </p:sp>
      <p:sp>
        <p:nvSpPr>
          <p:cNvPr id="100027" name="Rule2H"/>
          <p:cNvSpPr txBox="1"/>
          <p:nvPr/>
        </p:nvSpPr>
        <p:spPr>
          <a:xfrm xmlns:a="http://schemas.openxmlformats.org/drawingml/2006/main">
            <a:off x="540000" y="2268000"/>
            <a:ext cx="108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DC2626"/>
                </a:solidFill>
              </a:rPr>
              <a:t>MAJOR</a:t>
            </a:r>
          </a:p>
        </p:txBody>
      </p:sp>
      <p:sp>
        <p:nvSpPr>
          <p:cNvPr id="100028" name="Rule2"/>
          <p:cNvSpPr txBox="1"/>
          <p:nvPr/>
        </p:nvSpPr>
        <p:spPr>
          <a:xfrm xmlns:a="http://schemas.openxmlformats.org/drawingml/2006/main">
            <a:off x="1800000" y="2268000"/>
            <a:ext cx="936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Dosing Threshold Violation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Dosed with SpO₂ &lt; 94%, Temp &gt; 38°C, or SBP outside 90–160 mmHg → hold dose, notify PI within 24h</a:t>
            </a:r>
          </a:p>
        </p:txBody>
      </p:sp>
      <p:sp>
        <p:nvSpPr>
          <p:cNvPr id="100029" name="Rule3H"/>
          <p:cNvSpPr txBox="1"/>
          <p:nvPr/>
        </p:nvSpPr>
        <p:spPr>
          <a:xfrm xmlns:a="http://schemas.openxmlformats.org/drawingml/2006/main">
            <a:off x="540000" y="3096000"/>
            <a:ext cx="108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D97706"/>
                </a:solidFill>
              </a:rPr>
              <a:t>MINOR</a:t>
            </a:r>
          </a:p>
        </p:txBody>
      </p:sp>
      <p:sp>
        <p:nvSpPr>
          <p:cNvPr id="100030" name="Rule3"/>
          <p:cNvSpPr txBox="1"/>
          <p:nvPr/>
        </p:nvSpPr>
        <p:spPr>
          <a:xfrm xmlns:a="http://schemas.openxmlformats.org/drawingml/2006/main">
            <a:off x="1800000" y="3096000"/>
            <a:ext cx="936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Missed Protocol Visit Window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Checks Day 0 ±2d · Week 2 ±3d · Month 1 ±5d · Month 3 ±7d — each window generates a named deviation</a:t>
            </a:r>
          </a:p>
        </p:txBody>
      </p:sp>
      <p:sp>
        <p:nvSpPr>
          <p:cNvPr id="100031" name="Rule4H"/>
          <p:cNvSpPr txBox="1"/>
          <p:nvPr/>
        </p:nvSpPr>
        <p:spPr>
          <a:xfrm xmlns:a="http://schemas.openxmlformats.org/drawingml/2006/main">
            <a:off x="540000" y="3924000"/>
            <a:ext cx="108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D97706"/>
                </a:solidFill>
              </a:rPr>
              <a:t>MINOR</a:t>
            </a:r>
          </a:p>
        </p:txBody>
      </p:sp>
      <p:sp>
        <p:nvSpPr>
          <p:cNvPr id="100032" name="Rule4"/>
          <p:cNvSpPr txBox="1"/>
          <p:nvPr/>
        </p:nvSpPr>
        <p:spPr>
          <a:xfrm xmlns:a="http://schemas.openxmlformats.org/drawingml/2006/main">
            <a:off x="1800000" y="3924000"/>
            <a:ext cx="936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Elevated Inflammatory Marker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CRP &gt; 20 mg/L without a documented dose-hold review → physician review required within 48h</a:t>
            </a:r>
          </a:p>
        </p:txBody>
      </p:sp>
      <p:sp>
        <p:nvSpPr>
          <p:cNvPr id="100033" name="Rule5H"/>
          <p:cNvSpPr txBox="1"/>
          <p:nvPr/>
        </p:nvSpPr>
        <p:spPr>
          <a:xfrm xmlns:a="http://schemas.openxmlformats.org/drawingml/2006/main">
            <a:off x="540000" y="4752000"/>
            <a:ext cx="108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B82D4"/>
                </a:solidFill>
              </a:rPr>
              <a:t>ADMIN</a:t>
            </a:r>
          </a:p>
        </p:txBody>
      </p:sp>
      <p:sp>
        <p:nvSpPr>
          <p:cNvPr id="100034" name="Rule5"/>
          <p:cNvSpPr txBox="1"/>
          <p:nvPr/>
        </p:nvSpPr>
        <p:spPr>
          <a:xfrm xmlns:a="http://schemas.openxmlformats.org/drawingml/2006/main">
            <a:off x="1800000" y="4752000"/>
            <a:ext cx="936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Incomplete CRF Entry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Missing vital signs (SpO₂, HR, Temperature) → complete at next visit, document reason, no CAPA required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5" name="Accent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36" name="Title"/>
          <p:cNvSpPr txBox="1"/>
          <p:nvPr/>
        </p:nvSpPr>
        <p:spPr>
          <a:xfrm xmlns:a="http://schemas.openxmlformats.org/drawingml/2006/main">
            <a:off x="540000" y="360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200" b="1">
                <a:solidFill>
                  <a:srgbClr val="1E2330"/>
                </a:solidFill>
              </a:rPr>
              <a:t>ICH E6 GCP Severity Classifier</a:t>
            </a:r>
          </a:p>
        </p:txBody>
      </p:sp>
      <p:sp>
        <p:nvSpPr>
          <p:cNvPr id="100037" name="Sub"/>
          <p:cNvSpPr txBox="1"/>
          <p:nvPr/>
        </p:nvSpPr>
        <p:spPr>
          <a:xfrm xmlns:a="http://schemas.openxmlformats.org/drawingml/2006/main">
            <a:off x="540000" y="972000"/>
            <a:ext cx="108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57606A"/>
                </a:solidFill>
              </a:rPr>
              <a:t>Every patient is auto-graded using CTCAE criteria — regulatory reporting obligations assigned instantly</a:t>
            </a:r>
          </a:p>
        </p:txBody>
      </p:sp>
      <p:sp>
        <p:nvSpPr>
          <p:cNvPr id="100038" name="G1"/>
          <p:cNvSpPr txBox="1"/>
          <p:nvPr/>
        </p:nvSpPr>
        <p:spPr>
          <a:xfrm xmlns:a="http://schemas.openxmlformats.org/drawingml/2006/main">
            <a:off x="540000" y="1512000"/>
            <a:ext cx="2088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6A34A"/>
                </a:solidFill>
              </a:rPr>
              <a:t>Grade 1 — Mild</a:t>
            </a:r>
          </a:p>
          <a:p xmlns:a="http://schemas.openxmlformats.org/drawingml/2006/main">
            <a:r>
              <a:rPr lang="en-US" sz="1300" b="0">
                <a:solidFill>
                  <a:srgbClr val="16A34A"/>
                </a:solidFill>
              </a:rPr>
              <a:t>Transient, self-limiting</a:t>
            </a:r>
          </a:p>
          <a:p xmlns:a="http://schemas.openxmlformats.org/drawingml/2006/main">
            <a:r>
              <a:rPr lang="en-US" sz="1300" b="0">
                <a:solidFill>
                  <a:srgbClr val="16A34A"/>
                </a:solidFill>
              </a:rPr>
              <a:t>Source document only</a:t>
            </a:r>
          </a:p>
          <a:p xmlns:a="http://schemas.openxmlformats.org/drawingml/2006/main">
            <a:r>
              <a:rPr lang="en-US" sz="1300" b="0">
                <a:solidFill>
                  <a:srgbClr val="16A34A"/>
                </a:solidFill>
              </a:rPr>
              <a:t>Per scheduled visit</a:t>
            </a:r>
          </a:p>
        </p:txBody>
      </p:sp>
      <p:sp>
        <p:nvSpPr>
          <p:cNvPr id="100039" name="G2"/>
          <p:cNvSpPr txBox="1"/>
          <p:nvPr/>
        </p:nvSpPr>
        <p:spPr>
          <a:xfrm xmlns:a="http://schemas.openxmlformats.org/drawingml/2006/main">
            <a:off x="2844000" y="1512000"/>
            <a:ext cx="2088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C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CA8A04"/>
                </a:solidFill>
              </a:rPr>
              <a:t>Grade 2 — Moderate</a:t>
            </a:r>
          </a:p>
          <a:p xmlns:a="http://schemas.openxmlformats.org/drawingml/2006/main">
            <a:r>
              <a:rPr lang="en-US" sz="1300" b="0">
                <a:solidFill>
                  <a:srgbClr val="CA8A04"/>
                </a:solidFill>
              </a:rPr>
              <a:t>Limits daily activity</a:t>
            </a:r>
          </a:p>
          <a:p xmlns:a="http://schemas.openxmlformats.org/drawingml/2006/main">
            <a:r>
              <a:rPr lang="en-US" sz="1300" b="0">
                <a:solidFill>
                  <a:srgbClr val="CA8A04"/>
                </a:solidFill>
              </a:rPr>
              <a:t>Scheduled AE report</a:t>
            </a:r>
          </a:p>
          <a:p xmlns:a="http://schemas.openxmlformats.org/drawingml/2006/main">
            <a:r>
              <a:rPr lang="en-US" sz="1300" b="0">
                <a:solidFill>
                  <a:srgbClr val="CA8A04"/>
                </a:solidFill>
              </a:rPr>
              <a:t>Within 7 days</a:t>
            </a:r>
          </a:p>
        </p:txBody>
      </p:sp>
      <p:sp>
        <p:nvSpPr>
          <p:cNvPr id="100040" name="G3"/>
          <p:cNvSpPr txBox="1"/>
          <p:nvPr/>
        </p:nvSpPr>
        <p:spPr>
          <a:xfrm xmlns:a="http://schemas.openxmlformats.org/drawingml/2006/main">
            <a:off x="5148000" y="1512000"/>
            <a:ext cx="2088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C2410C"/>
                </a:solidFill>
              </a:rPr>
              <a:t>Grade 3 — Severe</a:t>
            </a:r>
          </a:p>
          <a:p xmlns:a="http://schemas.openxmlformats.org/drawingml/2006/main">
            <a:r>
              <a:rPr lang="en-US" sz="1300" b="0">
                <a:solidFill>
                  <a:srgbClr val="C2410C"/>
                </a:solidFill>
              </a:rPr>
              <a:t>Hospitalisation required</a:t>
            </a:r>
          </a:p>
          <a:p xmlns:a="http://schemas.openxmlformats.org/drawingml/2006/main">
            <a:r>
              <a:rPr lang="en-US" sz="1300" b="0">
                <a:solidFill>
                  <a:srgbClr val="C2410C"/>
                </a:solidFill>
              </a:rPr>
              <a:t>Expedited IND safety report</a:t>
            </a:r>
          </a:p>
          <a:p xmlns:a="http://schemas.openxmlformats.org/drawingml/2006/main">
            <a:r>
              <a:rPr lang="en-US" sz="1300" b="0">
                <a:solidFill>
                  <a:srgbClr val="C2410C"/>
                </a:solidFill>
              </a:rPr>
              <a:t>Within 15 days</a:t>
            </a:r>
          </a:p>
        </p:txBody>
      </p:sp>
      <p:sp>
        <p:nvSpPr>
          <p:cNvPr id="100041" name="G4"/>
          <p:cNvSpPr txBox="1"/>
          <p:nvPr/>
        </p:nvSpPr>
        <p:spPr>
          <a:xfrm xmlns:a="http://schemas.openxmlformats.org/drawingml/2006/main">
            <a:off x="7452000" y="1512000"/>
            <a:ext cx="2088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DC2626"/>
                </a:solidFill>
              </a:rPr>
              <a:t>Grade 4 — Life-Threatening</a:t>
            </a:r>
          </a:p>
          <a:p xmlns:a="http://schemas.openxmlformats.org/drawingml/2006/main">
            <a:r>
              <a:rPr lang="en-US" sz="1300" b="0">
                <a:solidFill>
                  <a:srgbClr val="DC2626"/>
                </a:solidFill>
              </a:rPr>
              <a:t>Urgent intervention needed</a:t>
            </a:r>
          </a:p>
          <a:p xmlns:a="http://schemas.openxmlformats.org/drawingml/2006/main">
            <a:r>
              <a:rPr lang="en-US" sz="1300" b="0">
                <a:solidFill>
                  <a:srgbClr val="DC2626"/>
                </a:solidFill>
              </a:rPr>
              <a:t>SAE — IRB notification</a:t>
            </a:r>
          </a:p>
          <a:p xmlns:a="http://schemas.openxmlformats.org/drawingml/2006/main">
            <a:r>
              <a:rPr lang="en-US" sz="1300" b="0">
                <a:solidFill>
                  <a:srgbClr val="DC2626"/>
                </a:solidFill>
              </a:rPr>
              <a:t>Within 7 days</a:t>
            </a:r>
          </a:p>
        </p:txBody>
      </p:sp>
      <p:sp>
        <p:nvSpPr>
          <p:cNvPr id="100042" name="G5"/>
          <p:cNvSpPr txBox="1"/>
          <p:nvPr/>
        </p:nvSpPr>
        <p:spPr>
          <a:xfrm xmlns:a="http://schemas.openxmlformats.org/drawingml/2006/main">
            <a:off x="9756000" y="1512000"/>
            <a:ext cx="2088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6D28D9"/>
                </a:solidFill>
              </a:rPr>
              <a:t>Grade 5 — Death</a:t>
            </a:r>
          </a:p>
          <a:p xmlns:a="http://schemas.openxmlformats.org/drawingml/2006/main">
            <a:r>
              <a:rPr lang="en-US" sz="1300" b="0">
                <a:solidFill>
                  <a:srgbClr val="6D28D9"/>
                </a:solidFill>
              </a:rPr>
              <a:t>Fatal adverse event</a:t>
            </a:r>
          </a:p>
          <a:p xmlns:a="http://schemas.openxmlformats.org/drawingml/2006/main">
            <a:r>
              <a:rPr lang="en-US" sz="1300" b="0">
                <a:solidFill>
                  <a:srgbClr val="6D28D9"/>
                </a:solidFill>
              </a:rPr>
              <a:t>Immediate regulatory alert</a:t>
            </a:r>
          </a:p>
          <a:p xmlns:a="http://schemas.openxmlformats.org/drawingml/2006/main">
            <a:r>
              <a:rPr lang="en-US" sz="1300" b="0">
                <a:solidFill>
                  <a:srgbClr val="6D28D9"/>
                </a:solidFill>
              </a:rPr>
              <a:t>Within 24 hours</a:t>
            </a:r>
          </a:p>
        </p:txBody>
      </p:sp>
      <p:sp>
        <p:nvSpPr>
          <p:cNvPr id="100043" name="HowBox"/>
          <p:cNvSpPr txBox="1"/>
          <p:nvPr/>
        </p:nvSpPr>
        <p:spPr>
          <a:xfrm xmlns:a="http://schemas.openxmlformats.org/drawingml/2006/main">
            <a:off x="540000" y="3420000"/>
            <a:ext cx="1080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1F2328"/>
                </a:solidFill>
              </a:rPr>
              <a:t>How it works</a:t>
            </a:r>
          </a:p>
          <a:p xmlns:a="http://schemas.openxmlformats.org/drawingml/2006/main">
            <a:r>
              <a:rPr lang="en-US" sz="1500" b="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F2328"/>
                </a:solidFill>
              </a:rPr>
              <a:t>1.  Triage severity score computed from vitals + labs + disease matches</a:t>
            </a:r>
          </a:p>
          <a:p xmlns:a="http://schemas.openxmlformats.org/drawingml/2006/main">
            <a:r>
              <a:rPr lang="en-US" sz="1500" b="0">
                <a:solidFill>
                  <a:srgbClr val="1F2328"/>
                </a:solidFill>
              </a:rPr>
              <a:t>2.  Score mapped to CTCAE grade (Grade 1–5)</a:t>
            </a:r>
          </a:p>
          <a:p xmlns:a="http://schemas.openxmlformats.org/drawingml/2006/main">
            <a:r>
              <a:rPr lang="en-US" sz="1500" b="0">
                <a:solidFill>
                  <a:srgbClr val="1F2328"/>
                </a:solidFill>
              </a:rPr>
              <a:t>3.  Regulatory obligation + reporting timeline assigned automatically</a:t>
            </a:r>
          </a:p>
          <a:p xmlns:a="http://schemas.openxmlformats.org/drawingml/2006/main">
            <a:r>
              <a:rPr lang="en-US" sz="1500" b="0">
                <a:solidFill>
                  <a:srgbClr val="1F2328"/>
                </a:solidFill>
              </a:rPr>
              <a:t>4.  Grade ≥ 3 → CAPA auto-raised with GCP grade tag</a:t>
            </a:r>
          </a:p>
          <a:p xmlns:a="http://schemas.openxmlformats.org/drawingml/2006/main">
            <a:r>
              <a:rPr lang="en-US" sz="1500" b="0">
                <a:solidFill>
                  <a:srgbClr val="1F2328"/>
                </a:solidFill>
              </a:rPr>
              <a:t>5.  Grade ≥ 4 → SAE badge + sponsor/IRB notification note generated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4" name="Accent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45" name="Title"/>
          <p:cNvSpPr txBox="1"/>
          <p:nvPr/>
        </p:nvSpPr>
        <p:spPr>
          <a:xfrm xmlns:a="http://schemas.openxmlformats.org/drawingml/2006/main">
            <a:off x="540000" y="360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200" b="1">
                <a:solidFill>
                  <a:srgbClr val="1E2330"/>
                </a:solidFill>
              </a:rPr>
              <a:t>Site Risk Scorecard — Leading Indicators</a:t>
            </a:r>
          </a:p>
        </p:txBody>
      </p:sp>
      <p:sp>
        <p:nvSpPr>
          <p:cNvPr id="100046" name="Sub"/>
          <p:cNvSpPr txBox="1"/>
          <p:nvPr/>
        </p:nvSpPr>
        <p:spPr>
          <a:xfrm xmlns:a="http://schemas.openxmlformats.org/drawingml/2006/main">
            <a:off x="540000" y="972000"/>
            <a:ext cx="108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57606A"/>
                </a:solidFill>
              </a:rPr>
              <a:t>Each site scored 0–100 using 4 leading indicators — tells you which sites will fail the FDA audit before it happens</a:t>
            </a:r>
          </a:p>
        </p:txBody>
      </p:sp>
      <p:sp>
        <p:nvSpPr>
          <p:cNvPr id="100047" name="Ind1"/>
          <p:cNvSpPr txBox="1"/>
          <p:nvPr/>
        </p:nvSpPr>
        <p:spPr>
          <a:xfrm xmlns:a="http://schemas.openxmlformats.org/drawingml/2006/main">
            <a:off x="540000" y="1512000"/>
            <a:ext cx="50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DC2626"/>
                </a:solidFill>
              </a:rPr>
              <a:t>1. Protocol Deviation Rate</a:t>
            </a:r>
          </a:p>
          <a:p xmlns:a="http://schemas.openxmlformats.org/drawingml/2006/main">
            <a:r>
              <a:rPr lang="en-US" sz="1400" b="0">
                <a:solidFill>
                  <a:srgbClr val="DC2626"/>
                </a:solidFill>
              </a:rPr>
              <a:t>Major + minor deviations per 100 patient visits</a:t>
            </a:r>
          </a:p>
          <a:p xmlns:a="http://schemas.openxmlformats.org/drawingml/2006/main">
            <a:r>
              <a:rPr lang="en-US" sz="1400" b="0">
                <a:solidFill>
                  <a:srgbClr val="DC2626"/>
                </a:solidFill>
              </a:rPr>
              <a:t>Weight: up to 40 points</a:t>
            </a:r>
          </a:p>
        </p:txBody>
      </p:sp>
      <p:sp>
        <p:nvSpPr>
          <p:cNvPr id="100048" name="Ind2"/>
          <p:cNvSpPr txBox="1"/>
          <p:nvPr/>
        </p:nvSpPr>
        <p:spPr>
          <a:xfrm xmlns:a="http://schemas.openxmlformats.org/drawingml/2006/main">
            <a:off x="6120000" y="1512000"/>
            <a:ext cx="50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D97706"/>
                </a:solidFill>
              </a:rPr>
              <a:t>2. Critical Case Concentration</a:t>
            </a:r>
          </a:p>
          <a:p xmlns:a="http://schemas.openxmlformats.org/drawingml/2006/main">
            <a:r>
              <a:rPr lang="en-US" sz="1400" b="0">
                <a:solidFill>
                  <a:srgbClr val="D97706"/>
                </a:solidFill>
              </a:rPr>
              <a:t>% patients with severity score ≥ 65</a:t>
            </a:r>
          </a:p>
          <a:p xmlns:a="http://schemas.openxmlformats.org/drawingml/2006/main">
            <a:r>
              <a:rPr lang="en-US" sz="1400" b="0">
                <a:solidFill>
                  <a:srgbClr val="D97706"/>
                </a:solidFill>
              </a:rPr>
              <a:t>Weight: up to 30 points</a:t>
            </a:r>
          </a:p>
        </p:txBody>
      </p:sp>
      <p:sp>
        <p:nvSpPr>
          <p:cNvPr id="100049" name="Ind3"/>
          <p:cNvSpPr txBox="1"/>
          <p:nvPr/>
        </p:nvSpPr>
        <p:spPr>
          <a:xfrm xmlns:a="http://schemas.openxmlformats.org/drawingml/2006/main">
            <a:off x="540000" y="2988000"/>
            <a:ext cx="50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3B82D4"/>
                </a:solidFill>
              </a:rPr>
              <a:t>3. Outbreak Velocity</a:t>
            </a:r>
          </a:p>
          <a:p xmlns:a="http://schemas.openxmlformats.org/drawingml/2006/main">
            <a:r>
              <a:rPr lang="en-US" sz="1400" b="0">
                <a:solidFill>
                  <a:srgbClr val="3B82D4"/>
                </a:solidFill>
              </a:rPr>
              <a:t>7-day vs prior 7-day case growth ratio</a:t>
            </a:r>
          </a:p>
          <a:p xmlns:a="http://schemas.openxmlformats.org/drawingml/2006/main">
            <a:r>
              <a:rPr lang="en-US" sz="1400" b="0">
                <a:solidFill>
                  <a:srgbClr val="3B82D4"/>
                </a:solidFill>
              </a:rPr>
              <a:t>Weight: up to 20 points</a:t>
            </a:r>
          </a:p>
        </p:txBody>
      </p:sp>
      <p:sp>
        <p:nvSpPr>
          <p:cNvPr id="100050" name="Ind4"/>
          <p:cNvSpPr txBox="1"/>
          <p:nvPr/>
        </p:nvSpPr>
        <p:spPr>
          <a:xfrm xmlns:a="http://schemas.openxmlformats.org/drawingml/2006/main">
            <a:off x="6120000" y="2988000"/>
            <a:ext cx="50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7C3AED"/>
                </a:solidFill>
              </a:rPr>
              <a:t>4. CAPA Overdue Rate</a:t>
            </a:r>
          </a:p>
          <a:p xmlns:a="http://schemas.openxmlformats.org/drawingml/2006/main">
            <a:r>
              <a:rPr lang="en-US" sz="1400" b="0">
                <a:solidFill>
                  <a:srgbClr val="7C3AED"/>
                </a:solidFill>
              </a:rPr>
              <a:t>% CAPAs past their due date at this site</a:t>
            </a:r>
          </a:p>
          <a:p xmlns:a="http://schemas.openxmlformats.org/drawingml/2006/main">
            <a:r>
              <a:rPr lang="en-US" sz="1400" b="0">
                <a:solidFill>
                  <a:srgbClr val="7C3AED"/>
                </a:solidFill>
              </a:rPr>
              <a:t>Weight: up to 10 points</a:t>
            </a:r>
          </a:p>
        </p:txBody>
      </p:sp>
      <p:sp>
        <p:nvSpPr>
          <p:cNvPr id="100051" name="Thresholds"/>
          <p:cNvSpPr txBox="1"/>
          <p:nvPr/>
        </p:nvSpPr>
        <p:spPr>
          <a:xfrm xmlns:a="http://schemas.openxmlformats.org/drawingml/2006/main">
            <a:off x="540000" y="4428000"/>
            <a:ext cx="1080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Score ≥ 60 → HIGH RISK: on-site audit within 72h, freeze enrolment, escalate CAPAs to sponsor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Score 30–59 → MODERATE RISK: remote monitoring visit within 2 weeks, protocol clarification memo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Score &lt; 30 → LOW RISK: standard monitoring schedule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2" name="Accent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53" name="Title"/>
          <p:cNvSpPr txBox="1"/>
          <p:nvPr/>
        </p:nvSpPr>
        <p:spPr>
          <a:xfrm xmlns:a="http://schemas.openxmlformats.org/drawingml/2006/main">
            <a:off x="540000" y="360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200" b="1">
                <a:solidFill>
                  <a:srgbClr val="1E2330"/>
                </a:solidFill>
              </a:rPr>
              <a:t>CAPA Module — ICH E6 §8 Audit-Ready</a:t>
            </a:r>
          </a:p>
        </p:txBody>
      </p:sp>
      <p:sp>
        <p:nvSpPr>
          <p:cNvPr id="100054" name="Sub"/>
          <p:cNvSpPr txBox="1"/>
          <p:nvPr/>
        </p:nvSpPr>
        <p:spPr>
          <a:xfrm xmlns:a="http://schemas.openxmlformats.org/drawingml/2006/main">
            <a:off x="540000" y="972000"/>
            <a:ext cx="108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57606A"/>
                </a:solidFill>
              </a:rPr>
              <a:t>Corrective &amp; Preventive Actions with full immutable audit trail — ready for FDA inspection on day one</a:t>
            </a:r>
          </a:p>
        </p:txBody>
      </p:sp>
      <p:sp>
        <p:nvSpPr>
          <p:cNvPr id="100055" name="Auto"/>
          <p:cNvSpPr txBox="1"/>
          <p:nvPr/>
        </p:nvSpPr>
        <p:spPr>
          <a:xfrm xmlns:a="http://schemas.openxmlformats.org/drawingml/2006/main">
            <a:off x="540000" y="1512000"/>
            <a:ext cx="522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Auto-CAPA Generation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When a patient's GCP grade reaches 3 or above, a CAPA is automatically raised with: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• CAPA type (Adverse Event / Corrective)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• GCP grade tag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• Due date (Grade ≥4: 2 days · Grade 3: 7 days)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• Root cause from critical vital flags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• Full timeline from creation to closure</a:t>
            </a:r>
          </a:p>
        </p:txBody>
      </p:sp>
      <p:sp>
        <p:nvSpPr>
          <p:cNvPr id="100056" name="Manual"/>
          <p:cNvSpPr txBox="1"/>
          <p:nvPr/>
        </p:nvSpPr>
        <p:spPr>
          <a:xfrm xmlns:a="http://schemas.openxmlformats.org/drawingml/2006/main">
            <a:off x="6120000" y="1512000"/>
            <a:ext cx="522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Manual CAPA + Status Workflow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Clinicians can raise CAPAs manually: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• Type: Corrective / Preventive / Deviation / Adverse Event / Near Miss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• Linked to patient ID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• Status flow: Open → In Progress → Closed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• Overdue auto-detection on each render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• Export CAPA log as CSV</a:t>
            </a:r>
          </a:p>
        </p:txBody>
      </p:sp>
      <p:sp>
        <p:nvSpPr>
          <p:cNvPr id="100057" name="Trail"/>
          <p:cNvSpPr txBox="1"/>
          <p:nvPr/>
        </p:nvSpPr>
        <p:spPr>
          <a:xfrm xmlns:a="http://schemas.openxmlformats.org/drawingml/2006/main">
            <a:off x="540000" y="4248000"/>
            <a:ext cx="1080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Immutable Audit Trail (ICH E6 §8)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Every action is logged: patient ingested · CAPA raised · status changed · reminder sent · export triggered · login/logout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Timestamp · User · Event Type · Detail — last 60 events always visible · FDA audit view scoped per hospital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8" name="Accent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59" name="Title"/>
          <p:cNvSpPr txBox="1"/>
          <p:nvPr/>
        </p:nvSpPr>
        <p:spPr>
          <a:xfrm xmlns:a="http://schemas.openxmlformats.org/drawingml/2006/main">
            <a:off x="540000" y="360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200" b="1">
                <a:solidFill>
                  <a:srgbClr val="1E2330"/>
                </a:solidFill>
              </a:rPr>
              <a:t>FDA Audit View &amp; Role-Based Access</a:t>
            </a:r>
          </a:p>
        </p:txBody>
      </p:sp>
      <p:sp>
        <p:nvSpPr>
          <p:cNvPr id="100060" name="Sub"/>
          <p:cNvSpPr txBox="1"/>
          <p:nvPr/>
        </p:nvSpPr>
        <p:spPr>
          <a:xfrm xmlns:a="http://schemas.openxmlformats.org/drawingml/2006/main">
            <a:off x="540000" y="972000"/>
            <a:ext cx="108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57606A"/>
                </a:solidFill>
              </a:rPr>
              <a:t>Two distinct access tiers — each with scoped visibility and permissions</a:t>
            </a:r>
          </a:p>
        </p:txBody>
      </p:sp>
      <p:sp>
        <p:nvSpPr>
          <p:cNvPr id="100061" name="HospTitle"/>
          <p:cNvSpPr txBox="1"/>
          <p:nvPr/>
        </p:nvSpPr>
        <p:spPr>
          <a:xfrm xmlns:a="http://schemas.openxmlformats.org/drawingml/2006/main">
            <a:off x="540000" y="1512000"/>
            <a:ext cx="522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6A34A"/>
                </a:solidFill>
              </a:rPr>
              <a:t>🏥  Hospital Staff</a:t>
            </a:r>
          </a:p>
        </p:txBody>
      </p:sp>
      <p:sp>
        <p:nvSpPr>
          <p:cNvPr id="100062" name="HospBody"/>
          <p:cNvSpPr txBox="1"/>
          <p:nvPr/>
        </p:nvSpPr>
        <p:spPr>
          <a:xfrm xmlns:a="http://schemas.openxmlformats.org/drawingml/2006/main">
            <a:off x="540000" y="1908000"/>
            <a:ext cx="522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• Sees only their own region's patients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• Add Patient form with live triage analysis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• Dashboard, Patient Monitor, CAPA, GCP, Reminders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• Audit trail scoped to own actions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• Pre-admission (−1d) &amp; post-treatment (+2d) reminders auto-generated</a:t>
            </a:r>
          </a:p>
        </p:txBody>
      </p:sp>
      <p:sp>
        <p:nvSpPr>
          <p:cNvPr id="100063" name="FDATitle"/>
          <p:cNvSpPr txBox="1"/>
          <p:nvPr/>
        </p:nvSpPr>
        <p:spPr>
          <a:xfrm xmlns:a="http://schemas.openxmlformats.org/drawingml/2006/main">
            <a:off x="6120000" y="1512000"/>
            <a:ext cx="522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D4ED8"/>
                </a:solidFill>
              </a:rPr>
              <a:t>🏛  FDA Auditor</a:t>
            </a:r>
          </a:p>
        </p:txBody>
      </p:sp>
      <p:sp>
        <p:nvSpPr>
          <p:cNvPr id="100064" name="FDABody"/>
          <p:cNvSpPr txBox="1"/>
          <p:nvPr/>
        </p:nvSpPr>
        <p:spPr>
          <a:xfrm xmlns:a="http://schemas.openxmlformats.org/drawingml/2006/main">
            <a:off x="6120000" y="1908000"/>
            <a:ext cx="522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• Sees ALL hospitals and ALL patients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• Hospital Audit page: select any site, view its patients, CAPAs, and scoped audit trail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• Cross-hospital KPIs: critical cases, open CAPAs per site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• Full immutable audit trail across entire trial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• Cannot add patients (read-only enforcement)</a:t>
            </a:r>
          </a:p>
        </p:txBody>
      </p:sp>
      <p:sp>
        <p:nvSpPr>
          <p:cNvPr id="100065" name="LoginNote"/>
          <p:cNvSpPr txBox="1"/>
          <p:nvPr/>
        </p:nvSpPr>
        <p:spPr>
          <a:xfrm xmlns:a="http://schemas.openxmlformats.org/drawingml/2006/main">
            <a:off x="540000" y="4320000"/>
            <a:ext cx="1080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57606A"/>
                </a:solidFill>
              </a:rPr>
              <a:t>Demo credentials ready: 6 hospital logins (Manhattan North/South, Brooklyn, Queens, Bronx, Staten Island) + 1 FDA auditor login (auditor@fda.gov)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6" name="Accent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3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67" name="Title"/>
          <p:cNvSpPr txBox="1"/>
          <p:nvPr/>
        </p:nvSpPr>
        <p:spPr>
          <a:xfrm xmlns:a="http://schemas.openxmlformats.org/drawingml/2006/main">
            <a:off x="540000" y="360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200" b="1">
                <a:solidFill>
                  <a:srgbClr val="1E2330"/>
                </a:solidFill>
              </a:rPr>
              <a:t>Problem Statement → Solution Mapping</a:t>
            </a:r>
          </a:p>
        </p:txBody>
      </p:sp>
      <p:sp>
        <p:nvSpPr>
          <p:cNvPr id="100068" name="H1"/>
          <p:cNvSpPr txBox="1"/>
          <p:nvPr/>
        </p:nvSpPr>
        <p:spPr>
          <a:xfrm xmlns:a="http://schemas.openxmlformats.org/drawingml/2006/main">
            <a:off x="540000" y="1080000"/>
            <a:ext cx="576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3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REQUIREMENT</a:t>
            </a:r>
          </a:p>
        </p:txBody>
      </p:sp>
      <p:sp>
        <p:nvSpPr>
          <p:cNvPr id="100069" name="H2"/>
          <p:cNvSpPr txBox="1"/>
          <p:nvPr/>
        </p:nvSpPr>
        <p:spPr>
          <a:xfrm xmlns:a="http://schemas.openxmlformats.org/drawingml/2006/main">
            <a:off x="6480000" y="1080000"/>
            <a:ext cx="486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3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WHERE IN SOLUTION</a:t>
            </a:r>
          </a:p>
        </p:txBody>
      </p:sp>
      <p:sp>
        <p:nvSpPr>
          <p:cNvPr id="100070" name="R1a"/>
          <p:cNvSpPr txBox="1"/>
          <p:nvPr/>
        </p:nvSpPr>
        <p:spPr>
          <a:xfrm xmlns:a="http://schemas.openxmlformats.org/drawingml/2006/main">
            <a:off x="540000" y="1368000"/>
            <a:ext cx="576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F2328"/>
                </a:solidFill>
              </a:rPr>
              <a:t>Compare patient records against protocol specification</a:t>
            </a:r>
          </a:p>
        </p:txBody>
      </p:sp>
      <p:sp>
        <p:nvSpPr>
          <p:cNvPr id="100071" name="R1b"/>
          <p:cNvSpPr txBox="1"/>
          <p:nvPr/>
        </p:nvSpPr>
        <p:spPr>
          <a:xfrm xmlns:a="http://schemas.openxmlformats.org/drawingml/2006/main">
            <a:off x="6480000" y="1368000"/>
            <a:ext cx="486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6A34A"/>
                </a:solidFill>
              </a:rPr>
              <a:t>Protocol Deviations page · detectDeviations() · PROTOCOL_SPEC rules</a:t>
            </a:r>
          </a:p>
        </p:txBody>
      </p:sp>
      <p:sp>
        <p:nvSpPr>
          <p:cNvPr id="100072" name="R2a"/>
          <p:cNvSpPr txBox="1"/>
          <p:nvPr/>
        </p:nvSpPr>
        <p:spPr>
          <a:xfrm xmlns:a="http://schemas.openxmlformats.org/drawingml/2006/main">
            <a:off x="540000" y="1944000"/>
            <a:ext cx="576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F2328"/>
                </a:solidFill>
              </a:rPr>
              <a:t>Classify each deviation by severity — Major / Minor / Administrative (ICH E6 GCP)</a:t>
            </a:r>
          </a:p>
        </p:txBody>
      </p:sp>
      <p:sp>
        <p:nvSpPr>
          <p:cNvPr id="100073" name="R2b"/>
          <p:cNvSpPr txBox="1"/>
          <p:nvPr/>
        </p:nvSpPr>
        <p:spPr>
          <a:xfrm xmlns:a="http://schemas.openxmlformats.org/drawingml/2006/main">
            <a:off x="6480000" y="1944000"/>
            <a:ext cx="486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6A34A"/>
                </a:solidFill>
              </a:rPr>
              <a:t>DEV_CLASS object · colour-coded badges · per-class timelines &amp; required actions</a:t>
            </a:r>
          </a:p>
        </p:txBody>
      </p:sp>
      <p:sp>
        <p:nvSpPr>
          <p:cNvPr id="100074" name="R3a"/>
          <p:cNvSpPr txBox="1"/>
          <p:nvPr/>
        </p:nvSpPr>
        <p:spPr>
          <a:xfrm xmlns:a="http://schemas.openxmlformats.org/drawingml/2006/main">
            <a:off x="540000" y="2520000"/>
            <a:ext cx="576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F2328"/>
                </a:solidFill>
              </a:rPr>
              <a:t>Score site-level risk using leading indicators</a:t>
            </a:r>
          </a:p>
        </p:txBody>
      </p:sp>
      <p:sp>
        <p:nvSpPr>
          <p:cNvPr id="100075" name="R3b"/>
          <p:cNvSpPr txBox="1"/>
          <p:nvPr/>
        </p:nvSpPr>
        <p:spPr>
          <a:xfrm xmlns:a="http://schemas.openxmlformats.org/drawingml/2006/main">
            <a:off x="6480000" y="2520000"/>
            <a:ext cx="486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6A34A"/>
                </a:solidFill>
              </a:rPr>
              <a:t>Site Risk Monitor · computeSiteRiskScores() · 4 weighted indicators · 0–100 score</a:t>
            </a:r>
          </a:p>
        </p:txBody>
      </p:sp>
      <p:sp>
        <p:nvSpPr>
          <p:cNvPr id="100076" name="R4a"/>
          <p:cNvSpPr txBox="1"/>
          <p:nvPr/>
        </p:nvSpPr>
        <p:spPr>
          <a:xfrm xmlns:a="http://schemas.openxmlformats.org/drawingml/2006/main">
            <a:off x="540000" y="3096000"/>
            <a:ext cx="576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F2328"/>
                </a:solidFill>
              </a:rPr>
              <a:t>Generate CAPA-ready reports with recommended mitigations</a:t>
            </a:r>
          </a:p>
        </p:txBody>
      </p:sp>
      <p:sp>
        <p:nvSpPr>
          <p:cNvPr id="100077" name="R4b"/>
          <p:cNvSpPr txBox="1"/>
          <p:nvPr/>
        </p:nvSpPr>
        <p:spPr>
          <a:xfrm xmlns:a="http://schemas.openxmlformats.org/drawingml/2006/main">
            <a:off x="6480000" y="3096000"/>
            <a:ext cx="486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6A34A"/>
                </a:solidFill>
              </a:rPr>
              <a:t>Export Deviation Report (JSON) · mitigation per deviation · ICH ref · priority timeline</a:t>
            </a:r>
          </a:p>
        </p:txBody>
      </p:sp>
      <p:sp>
        <p:nvSpPr>
          <p:cNvPr id="100078" name="R5a"/>
          <p:cNvSpPr txBox="1"/>
          <p:nvPr/>
        </p:nvSpPr>
        <p:spPr>
          <a:xfrm xmlns:a="http://schemas.openxmlformats.org/drawingml/2006/main">
            <a:off x="540000" y="3672000"/>
            <a:ext cx="576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F2328"/>
                </a:solidFill>
              </a:rPr>
              <a:t>Real-time visibility before FDA audit (5,000+ visits, 200+ sites)</a:t>
            </a:r>
          </a:p>
        </p:txBody>
      </p:sp>
      <p:sp>
        <p:nvSpPr>
          <p:cNvPr id="100079" name="R5b"/>
          <p:cNvSpPr txBox="1"/>
          <p:nvPr/>
        </p:nvSpPr>
        <p:spPr>
          <a:xfrm xmlns:a="http://schemas.openxmlformats.org/drawingml/2006/main">
            <a:off x="6480000" y="3672000"/>
            <a:ext cx="486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6A34A"/>
                </a:solidFill>
              </a:rPr>
              <a:t>Trial banner shows live site count + FDA Audit Risk level · Dashboard updates on every patient add</a:t>
            </a:r>
          </a:p>
        </p:txBody>
      </p:sp>
      <p:sp>
        <p:nvSpPr>
          <p:cNvPr id="100080" name="Tick"/>
          <p:cNvSpPr txBox="1"/>
          <p:nvPr/>
        </p:nvSpPr>
        <p:spPr>
          <a:xfrm xmlns:a="http://schemas.openxmlformats.org/drawingml/2006/main">
            <a:off x="540000" y="4500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6A34A"/>
                </a:solidFill>
              </a:rPr>
              <a:t>✅  All 4 problem statement requirements are fully addressed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E2330"/>
        </a:solidFill>
      </p:bgPr>
    </p:bg>
    <p:spTree>
      <p:nvGrpSpPr>
        <p:cNvPr id="1" name=""/>
        <p:cNvGrpSpPr/>
        <p:nvPr/>
      </p:nvGrpSpPr>
      <p:grpSpPr/>
      <p:sp>
        <p:nvSpPr>
          <p:cNvPr id="100081" name="Title"/>
          <p:cNvSpPr txBox="1"/>
          <p:nvPr/>
        </p:nvSpPr>
        <p:spPr>
          <a:xfrm xmlns:a="http://schemas.openxmlformats.org/drawingml/2006/main">
            <a:off x="720000" y="1080000"/>
            <a:ext cx="1044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00082" name="Sub"/>
          <p:cNvSpPr txBox="1"/>
          <p:nvPr/>
        </p:nvSpPr>
        <p:spPr>
          <a:xfrm xmlns:a="http://schemas.openxmlformats.org/drawingml/2006/main">
            <a:off x="720000" y="234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200" b="0">
                <a:solidFill>
                  <a:srgbClr val="8B949E"/>
                </a:solidFill>
              </a:rPr>
              <a:t>Clinical Trial Risk Monitor &amp; Protocol Deviation Detector</a:t>
            </a:r>
          </a:p>
        </p:txBody>
      </p:sp>
      <p:sp>
        <p:nvSpPr>
          <p:cNvPr id="100083" name="Divider"/>
          <p:cNvSpPr txBox="1"/>
          <p:nvPr/>
        </p:nvSpPr>
        <p:spPr>
          <a:xfrm xmlns:a="http://schemas.openxmlformats.org/drawingml/2006/main">
            <a:off x="720000" y="3060000"/>
            <a:ext cx="36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 b="0">
              <a:solidFill>
                <a:srgbClr val="3B82D4"/>
              </a:solidFill>
            </a:endParaRPr>
          </a:p>
        </p:txBody>
      </p:sp>
      <p:sp>
        <p:nvSpPr>
          <p:cNvPr id="100084" name="D1"/>
          <p:cNvSpPr txBox="1"/>
          <p:nvPr/>
        </p:nvSpPr>
        <p:spPr>
          <a:xfrm xmlns:a="http://schemas.openxmlformats.org/drawingml/2006/main">
            <a:off x="720000" y="3420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500" b="0">
                <a:solidFill>
                  <a:srgbClr val="C9D1D9"/>
                </a:solidFill>
              </a:rPr>
              <a:t>Open dashboard.html in any browser — no install required</a:t>
            </a:r>
          </a:p>
        </p:txBody>
      </p:sp>
      <p:sp>
        <p:nvSpPr>
          <p:cNvPr id="100085" name="D2"/>
          <p:cNvSpPr txBox="1"/>
          <p:nvPr/>
        </p:nvSpPr>
        <p:spPr>
          <a:xfrm xmlns:a="http://schemas.openxmlformats.org/drawingml/2006/main">
            <a:off x="720000" y="3816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 b="0">
                <a:solidFill>
                  <a:srgbClr val="8B949E"/>
                </a:solidFill>
              </a:rPr>
              <a:t>Login: auditor@fda.gov / fda2025  (FDA view)  ·  admin@manhattan-north.org / pass123  (Hospital view)</a:t>
            </a:r>
          </a:p>
        </p:txBody>
      </p:sp>
      <p:sp>
        <p:nvSpPr>
          <p:cNvPr id="100086" name="D3"/>
          <p:cNvSpPr txBox="1"/>
          <p:nvPr/>
        </p:nvSpPr>
        <p:spPr>
          <a:xfrm xmlns:a="http://schemas.openxmlformats.org/drawingml/2006/main">
            <a:off x="720000" y="4212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 b="0">
                <a:solidFill>
                  <a:srgbClr val="8B949E"/>
                </a:solidFill>
              </a:rPr>
              <a:t>Navigate to: Protocol Deviations · Site Risk Monitor · CAPA · ICH E6 GCP</a:t>
            </a:r>
          </a:p>
        </p:txBody>
      </p:sp>
      <p:sp>
        <p:nvSpPr>
          <p:cNvPr id="100087" name="Built"/>
          <p:cNvSpPr txBox="1"/>
          <p:nvPr/>
        </p:nvSpPr>
        <p:spPr>
          <a:xfrm xmlns:a="http://schemas.openxmlformats.org/drawingml/2006/main">
            <a:off x="720000" y="5940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 b="0">
                <a:solidFill>
                  <a:srgbClr val="484F58"/>
                </a:solidFill>
              </a:rPr>
              <a:t>Built with IBM Bob  ·  ICH E6 GCP Aligned  ·  v2.0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OfficeCLI/1.0.151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2026-09-19T08:49:06Z</dcterms:created>
  <cp:lastModifiedBy>OfficeCLI</cp:lastModifiedBy>
  <dcterms:modified xsi:type="dcterms:W3CDTF">2026-09-19T08:49:06Z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1.0.151</vt:lpwstr>
  </op:property>
  <op:property fmtid="{D5CDD505-2E9C-101B-9397-08002B2CF9AE}" pid="3" name="OfficeCLI.LastModified">
    <vt:lpwstr xmlns:vt="http://schemas.openxmlformats.org/officeDocument/2006/docPropsVTypes">2026-09-19T08:58:33Z</vt:lpwstr>
  </op:property>
</op:Properties>
</file>