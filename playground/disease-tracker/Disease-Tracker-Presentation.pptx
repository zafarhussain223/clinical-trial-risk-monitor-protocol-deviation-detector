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f93582d1eac4f16" /><Relationship Type="http://schemas.openxmlformats.org/package/2006/relationships/metadata/core-properties" Target="/docProps/core.xml" Id="R5cc984fc7d494652" /><Relationship Type="http://schemas.openxmlformats.org/officeDocument/2006/relationships/extended-properties" Target="/docProps/app.xml" Id="Rdb4d137472d14cc1" /><Relationship Type="http://schemas.openxmlformats.org/officeDocument/2006/relationships/custom-properties" Target="/docProps/custom.xml" Id="R1f4f3a98fbff4a3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c65e1fb63e3d4bc5"/>
  </p:notesMasterIdLst>
  <p:sldIdLst>
    <p:sldId id="256" r:id="R73429b1df2024969"/>
    <p:sldId id="257" r:id="Rd7f91e67623a422e"/>
    <p:sldId id="258" r:id="Rdba572b702b54f0f"/>
    <p:sldId id="259" r:id="Re3cb4702ab554356"/>
    <p:sldId id="260" r:id="R2f1a837cfbb844f9"/>
    <p:sldId id="261" r:id="R9910ca1321994d42"/>
    <p:sldId id="262" r:id="R400753ef5e8b49ad"/>
    <p:sldId id="263" r:id="R50336429fcb1444d"/>
    <p:sldId id="264" r:id="R508ae1fd35904821"/>
    <p:sldId id="265" r:id="Ree324c1b78374186"/>
    <p:sldId id="266" r:id="Ra53ddfc18a094531"/>
    <p:sldId id="267" r:id="R1e7f4eb8a8814c3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3429b1df2024969" /><Relationship Type="http://schemas.openxmlformats.org/officeDocument/2006/relationships/notesMaster" Target="/ppt/notesMasters/notesMaster1.xml" Id="Rc65e1fb63e3d4bc5" /><Relationship Type="http://schemas.openxmlformats.org/officeDocument/2006/relationships/slide" Target="/ppt/slides/slide2.xml" Id="Rd7f91e67623a422e" /><Relationship Type="http://schemas.openxmlformats.org/officeDocument/2006/relationships/slide" Target="/ppt/slides/slide3.xml" Id="Rdba572b702b54f0f" /><Relationship Type="http://schemas.openxmlformats.org/officeDocument/2006/relationships/slide" Target="/ppt/slides/slide4.xml" Id="Re3cb4702ab554356" /><Relationship Type="http://schemas.openxmlformats.org/officeDocument/2006/relationships/slide" Target="/ppt/slides/slide5.xml" Id="R2f1a837cfbb844f9" /><Relationship Type="http://schemas.openxmlformats.org/officeDocument/2006/relationships/slide" Target="/ppt/slides/slide6.xml" Id="R9910ca1321994d42" /><Relationship Type="http://schemas.openxmlformats.org/officeDocument/2006/relationships/slide" Target="/ppt/slides/slide7.xml" Id="R400753ef5e8b49ad" /><Relationship Type="http://schemas.openxmlformats.org/officeDocument/2006/relationships/slide" Target="/ppt/slides/slide8.xml" Id="R50336429fcb1444d" /><Relationship Type="http://schemas.openxmlformats.org/officeDocument/2006/relationships/slide" Target="/ppt/slides/slide9.xml" Id="R508ae1fd35904821" /><Relationship Type="http://schemas.openxmlformats.org/officeDocument/2006/relationships/slide" Target="/ppt/slides/slide10.xml" Id="Ree324c1b78374186" /><Relationship Type="http://schemas.openxmlformats.org/officeDocument/2006/relationships/slide" Target="/ppt/slides/slide11.xml" Id="Ra53ddfc18a094531" /><Relationship Type="http://schemas.openxmlformats.org/officeDocument/2006/relationships/slide" Target="/ppt/slides/slide12.xml" Id="R1e7f4eb8a8814c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04bd8d52cf149e4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525dfb2cf0d41c6" /><Relationship Type="http://schemas.openxmlformats.org/officeDocument/2006/relationships/slide" Target="/ppt/slides/slide1.xml" Id="R99d0ff81286344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aad419302494f5c" /><Relationship Type="http://schemas.openxmlformats.org/officeDocument/2006/relationships/slide" Target="/ppt/slides/slide2.xml" Id="R19dd47dae15547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ad98ef611184c49" /><Relationship Type="http://schemas.openxmlformats.org/officeDocument/2006/relationships/slide" Target="/ppt/slides/slide3.xml" Id="R2d35ab9252c941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83b0c34ba0e4fea" /><Relationship Type="http://schemas.openxmlformats.org/officeDocument/2006/relationships/slide" Target="/ppt/slides/slide4.xml" Id="R327bd216857746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b46f7a8ae0d4ff9" /><Relationship Type="http://schemas.openxmlformats.org/officeDocument/2006/relationships/slide" Target="/ppt/slides/slide5.xml" Id="Ra308ba9224894a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4d80743a8d94d5c" /><Relationship Type="http://schemas.openxmlformats.org/officeDocument/2006/relationships/slide" Target="/ppt/slides/slide6.xml" Id="Rdfeaedb6e07040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5da3237358b4be9" /><Relationship Type="http://schemas.openxmlformats.org/officeDocument/2006/relationships/slide" Target="/ppt/slides/slide7.xml" Id="R6139bf69607047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142ef5322784970" /><Relationship Type="http://schemas.openxmlformats.org/officeDocument/2006/relationships/slide" Target="/ppt/slides/slide8.xml" Id="R41f266d8dcb946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139495eccc04f02" /><Relationship Type="http://schemas.openxmlformats.org/officeDocument/2006/relationships/slide" Target="/ppt/slides/slide9.xml" Id="R97761e7e8dbf40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980d1923f5440c3" /><Relationship Type="http://schemas.openxmlformats.org/officeDocument/2006/relationships/slide" Target="/ppt/slides/slide10.xml" Id="Rba8a174b3c2f47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c1fbef5c2694f1f" /><Relationship Type="http://schemas.openxmlformats.org/officeDocument/2006/relationships/slide" Target="/ppt/slides/slide11.xml" Id="R8936e47cbf4844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166e58966a44af1" /><Relationship Type="http://schemas.openxmlformats.org/officeDocument/2006/relationships/slide" Target="/ppt/slides/slide12.xml" Id="Rb8eed67378e14f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This presentation covers the Disease &amp; Symptom Tracking Platform — an enterprise-grade epidemiological surveillance system. Walk through each module, the live dashboard, and the clinical decision support capabilities.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Introduce MedTrack as a single-file, browser-only application. No server, no build step — open dashboard.html in any modern browser. Built to cover the full surveillance workflow from patient intake through outbreak containment actions.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pipeline is sequential: raw intake → validated patient record → rules engine evaluation → triage classification → regional aggregation. All stages run synchronously at page load. The results (ENGINE_RESULTS, TRIAGE_RESULTS, REGIONAL) are stored as global arrays and consumed by all 9 dashboard pages.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rules engine runs in three passes: (1) vital flags — checks temperature, SpO2, heart rate, blood pressure against hard clinical thresholds. (2) lab flags — compares 7 biomarkers against LAB_REFERENCE_RANGES with secondary critical thresholds. (3) disease matching — computes a composite score against all 7 diseases and flags outbreak candidates.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triage classifier builds a 0–100 score from vital weights, lab weights, flag bonuses, disease type bonuses, and pre-existing condition multipliers. Score is capped at 100. Thresholds: Critical ≥65, Moderate 35–64, Low &lt;35. An action plan (immediate actions, diagnostic orders, monitoring plan, treatment guidance) is generated automatically per tier.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epidemiology module aggregates patients by region within a 14-day rolling window. It computes a 7-day velocity ratio and an overall outbreak risk score from three components. A score of 70+ automatically triggers four containment workflows; 85+ adds a mass notification action.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10 sample patients are deliberately chosen to cover all severity tiers, all 7 disease categories, and all 6 regional zones. PT-001 is the most severe: SpO2 87%, BP 88/55, COPD, age 67 — scores Critical. PT-010 is the mildest: 25-year-old, 3 mild symptoms, all normal vitals.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dashboard has 9 pages, all rendered from the same in-memory data arrays. Navigation is instant — showPage() simply toggles CSS display. All pages are rendered at init so they are ready when the user navigates to them.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GCP module maps every patient to a CTCAE grade based on their triage score and vital/lab flags. Grade 4+ patients get an SAE badge and urgent reporting obligations. The CAPA module auto-raises records for all Critical or Grade 3+ patients. All status changes are logged to an immutable audit trail.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Each disease entry in DISEASE_DB contains primary symptoms list, critical lab boundaries, vital thresholds, ICD-10 code, quarantine protocol, and treatment protocol. The composite scoring formula weights symptom overlap at 45%, lab criteria at 35%, and vital threshold breaches at 20%.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Reminders are auto-seeded for non-low-severity patients from their symptom onset date. The pre-admission reminder is −1 day, post-treatment is +2 days. Export produces a Blob URL and triggers a browser download — no server required.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Wrap up: MedTrack covers the full surveillance workflow from patient intake to outbreak containment. Its modular src/ architecture makes it easy to extend. The dashboard is a single HTML file with no build step.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f7274ef3040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65b3b8f99e4f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905492b8349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0630da59749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f04f03450411d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5c1f96f1e85413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00bba63a843c9" /><Relationship Type="http://schemas.openxmlformats.org/officeDocument/2006/relationships/notesSlide" Target="/ppt/notesSlides/notesSlide1.xml" Id="Raebb773278db4f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36d8e82c74c07" /><Relationship Type="http://schemas.openxmlformats.org/officeDocument/2006/relationships/notesSlide" Target="/ppt/notesSlides/notesSlide2.xml" Id="R6744a942f89349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57652b0174e08" /><Relationship Type="http://schemas.openxmlformats.org/officeDocument/2006/relationships/notesSlide" Target="/ppt/notesSlides/notesSlide3.xml" Id="R564afbdaa77344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2013c87b74df7" /><Relationship Type="http://schemas.openxmlformats.org/officeDocument/2006/relationships/notesSlide" Target="/ppt/notesSlides/notesSlide4.xml" Id="Rf7fdf01cce834c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f1b988a634f29" /><Relationship Type="http://schemas.openxmlformats.org/officeDocument/2006/relationships/notesSlide" Target="/ppt/notesSlides/notesSlide5.xml" Id="Rfae5d5f344e44b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6b6a49e7b4156" /><Relationship Type="http://schemas.openxmlformats.org/officeDocument/2006/relationships/notesSlide" Target="/ppt/notesSlides/notesSlide6.xml" Id="R6a02b1c40c354a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088ac3a8a4900" /><Relationship Type="http://schemas.openxmlformats.org/officeDocument/2006/relationships/notesSlide" Target="/ppt/notesSlides/notesSlide7.xml" Id="Rf512e24d88dc40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5a667f0ef458c" /><Relationship Type="http://schemas.openxmlformats.org/officeDocument/2006/relationships/notesSlide" Target="/ppt/notesSlides/notesSlide8.xml" Id="R130afa062e484f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be6c9622d490f" /><Relationship Type="http://schemas.openxmlformats.org/officeDocument/2006/relationships/notesSlide" Target="/ppt/notesSlides/notesSlide9.xml" Id="Re85c3c2e2d194d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da01d792a400f" /><Relationship Type="http://schemas.openxmlformats.org/officeDocument/2006/relationships/notesSlide" Target="/ppt/notesSlides/notesSlide10.xml" Id="R73cd632b5b6240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ad1cd380d407e" /><Relationship Type="http://schemas.openxmlformats.org/officeDocument/2006/relationships/notesSlide" Target="/ppt/notesSlides/notesSlide11.xml" Id="Rb8655ddab5cf4d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8300f15de43e7" /><Relationship Type="http://schemas.openxmlformats.org/officeDocument/2006/relationships/notesSlide" Target="/ppt/notesSlides/notesSlide12.xml" Id="R56d9b031ebe94f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330"/>
        </a:solidFill>
      </p:bgPr>
    </p:bg>
    <p:spTree>
      <p:nvGrpSpPr>
        <p:cNvPr id="1" name=""/>
        <p:cNvGrpSpPr/>
        <p:nvPr/>
      </p:nvGrpSpPr>
      <p:grpSpPr/>
      <p:sp>
        <p:nvSpPr>
          <p:cNvPr id="100000" name="TopBar"/>
          <p:cNvSpPr txBox="1"/>
          <p:nvPr/>
        </p:nvSpPr>
        <p:spPr>
          <a:xfrm xmlns:a="http://schemas.openxmlformats.org/drawingml/2006/main">
            <a:off x="0" y="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001" name="Tagline"/>
          <p:cNvSpPr txBox="1"/>
          <p:nvPr/>
        </p:nvSpPr>
        <p:spPr>
          <a:xfrm xmlns:a="http://schemas.openxmlformats.org/drawingml/2006/main">
            <a:off x="540000" y="432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B82D4"/>
                </a:solidFill>
              </a:rPr>
              <a:t>ENTERPRISE EPIDEMIOLOGICAL SURVEILLANCE PLATFORM</a:t>
            </a:r>
          </a:p>
        </p:txBody>
      </p:sp>
      <p:sp>
        <p:nvSpPr>
          <p:cNvPr id="100002" name="Title"/>
          <p:cNvSpPr txBox="1"/>
          <p:nvPr/>
        </p:nvSpPr>
        <p:spPr>
          <a:xfrm xmlns:a="http://schemas.openxmlformats.org/drawingml/2006/main">
            <a:off x="540000" y="828000"/>
            <a:ext cx="10800000" cy="16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Disease &amp; Symptom</a:t>
            </a:r>
          </a:p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Tracking Platform</a:t>
            </a:r>
          </a:p>
        </p:txBody>
      </p:sp>
      <p:sp>
        <p:nvSpPr>
          <p:cNvPr id="100003" name="Subtitle"/>
          <p:cNvSpPr txBox="1"/>
          <p:nvPr/>
        </p:nvSpPr>
        <p:spPr>
          <a:xfrm xmlns:a="http://schemas.openxmlformats.org/drawingml/2006/main">
            <a:off x="540000" y="2592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8B949E"/>
                </a:solidFill>
              </a:rPr>
              <a:t>MedTrack v2.0  |  Real-Time Patient Monitoring  |  ICH E6 GCP Aligned</a:t>
            </a:r>
          </a:p>
        </p:txBody>
      </p:sp>
      <p:sp>
        <p:nvSpPr>
          <p:cNvPr id="100004" name="Divider"/>
          <p:cNvSpPr txBox="1"/>
          <p:nvPr/>
        </p:nvSpPr>
        <p:spPr>
          <a:xfrm xmlns:a="http://schemas.openxmlformats.org/drawingml/2006/main">
            <a:off x="540000" y="3060000"/>
            <a:ext cx="36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005" name="BottomMeta"/>
          <p:cNvSpPr txBox="1"/>
          <p:nvPr/>
        </p:nvSpPr>
        <p:spPr>
          <a:xfrm xmlns:a="http://schemas.openxmlformats.org/drawingml/2006/main">
            <a:off x="540000" y="3240000"/>
            <a:ext cx="108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7606A"/>
                </a:solidFill>
              </a:rPr>
              <a:t>10 Patients  •  7 Diseases  •  6 Regions  •  9 Dashboard Modules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E2330"/>
        </a:solidFill>
      </p:bgPr>
    </p:bg>
    <p:spTree>
      <p:nvGrpSpPr>
        <p:cNvPr id="1" name=""/>
        <p:cNvGrpSpPr/>
        <p:nvPr/>
      </p:nvGrpSpPr>
      <p:grpSpPr/>
      <p:sp>
        <p:nvSpPr>
          <p:cNvPr id="100006" name="TopBar"/>
          <p:cNvSpPr txBox="1"/>
          <p:nvPr/>
        </p:nvSpPr>
        <p:spPr>
          <a:xfrm xmlns:a="http://schemas.openxmlformats.org/drawingml/2006/main">
            <a:off x="0" y="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007" name="SlideLabel"/>
          <p:cNvSpPr txBox="1"/>
          <p:nvPr/>
        </p:nvSpPr>
        <p:spPr>
          <a:xfrm xmlns:a="http://schemas.openxmlformats.org/drawingml/2006/main">
            <a:off x="540000" y="36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3B82D4"/>
                </a:solidFill>
              </a:rPr>
              <a:t>OVERVIEW</a:t>
            </a:r>
          </a:p>
        </p:txBody>
      </p:sp>
      <p:sp>
        <p:nvSpPr>
          <p:cNvPr id="100008" name="Title"/>
          <p:cNvSpPr txBox="1"/>
          <p:nvPr/>
        </p:nvSpPr>
        <p:spPr>
          <a:xfrm xmlns:a="http://schemas.openxmlformats.org/drawingml/2006/main">
            <a:off x="540000" y="648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What Is MedTrack?</a:t>
            </a:r>
          </a:p>
        </p:txBody>
      </p:sp>
      <p:sp>
        <p:nvSpPr>
          <p:cNvPr id="100009" name="Body"/>
          <p:cNvSpPr txBox="1"/>
          <p:nvPr/>
        </p:nvSpPr>
        <p:spPr>
          <a:xfrm xmlns:a="http://schemas.openxmlformats.org/drawingml/2006/main">
            <a:off x="540000" y="1296000"/>
            <a:ext cx="1080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>MedTrack is a fully browser-based, zero-server epidemiological surveillance platform designed for clinical and public health teams.</a:t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>✦  Monitors patient vital signs, lab results &amp; symptoms in real time</a:t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>✦  Detects early-stage disease using a multi-factor rules engine</a:t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>✦  Auto-classifies severity (Critical / Moderate / Low) with 0–100 scores</a:t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>✦  Tracks regional infection velocity &amp; outbreak risk (0–100)</a:t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>✦  Generates ICH E6 GCP-compliant CAPA records and audit trails</a:t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>✦  Schedules pre-admission and post-treatment hospital reminders</a:t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>✦  Exports regulatory-ready JSON &amp; CSV public health reports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E2330"/>
        </a:solidFill>
      </p:bgPr>
    </p:bg>
    <p:spTree>
      <p:nvGrpSpPr>
        <p:cNvPr id="1" name=""/>
        <p:cNvGrpSpPr/>
        <p:nvPr/>
      </p:nvGrpSpPr>
      <p:grpSpPr/>
      <p:sp>
        <p:nvSpPr>
          <p:cNvPr id="100010" name="TopBar"/>
          <p:cNvSpPr txBox="1"/>
          <p:nvPr/>
        </p:nvSpPr>
        <p:spPr>
          <a:xfrm xmlns:a="http://schemas.openxmlformats.org/drawingml/2006/main">
            <a:off x="0" y="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011" name="SlideLabel"/>
          <p:cNvSpPr txBox="1"/>
          <p:nvPr/>
        </p:nvSpPr>
        <p:spPr>
          <a:xfrm xmlns:a="http://schemas.openxmlformats.org/drawingml/2006/main">
            <a:off x="540000" y="36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3B82D4"/>
                </a:solidFill>
              </a:rPr>
              <a:t>ARCHITECTURE</a:t>
            </a:r>
          </a:p>
        </p:txBody>
      </p:sp>
      <p:sp>
        <p:nvSpPr>
          <p:cNvPr id="100012" name="Title"/>
          <p:cNvSpPr txBox="1"/>
          <p:nvPr/>
        </p:nvSpPr>
        <p:spPr>
          <a:xfrm xmlns:a="http://schemas.openxmlformats.org/drawingml/2006/main">
            <a:off x="540000" y="648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Project Structure &amp; Pipeline</a:t>
            </a:r>
          </a:p>
        </p:txBody>
      </p:sp>
      <p:sp>
        <p:nvSpPr>
          <p:cNvPr id="100013" name="PipelineLabel"/>
          <p:cNvSpPr txBox="1"/>
          <p:nvPr/>
        </p:nvSpPr>
        <p:spPr>
          <a:xfrm xmlns:a="http://schemas.openxmlformats.org/drawingml/2006/main">
            <a:off x="540000" y="1296000"/>
            <a:ext cx="108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B82D4"/>
                </a:solidFill>
              </a:rPr>
              <a:t>DATA PIPELINE  (runs at page load, entirely in-browser)</a:t>
            </a:r>
          </a:p>
        </p:txBody>
      </p:sp>
      <p:sp>
        <p:nvSpPr>
          <p:cNvPr id="100014" name="Pipeline"/>
          <p:cNvSpPr txBox="1"/>
          <p:nvPr/>
        </p:nvSpPr>
        <p:spPr>
          <a:xfrm xmlns:a="http://schemas.openxmlformats.org/drawingml/2006/main">
            <a:off x="540000" y="1620000"/>
            <a:ext cx="1080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RAW Patient Data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     ▼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schema.js → createPatientRecord()    [ validates &amp; normalises 10 fields ]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     ▼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rulesEngine.js → evaluatePatient()    [ vital flags + lab flags + disease matching ]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     ▼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triageClassifier.js → classifySeverity()    [ 0–100 severity score + action plan ]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     ▼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epidemiology.js → runRegional()    [ 14-day window, velocity ratio, outbreak risk ]</a:t>
            </a:r>
          </a:p>
        </p:txBody>
      </p:sp>
      <p:sp>
        <p:nvSpPr>
          <p:cNvPr id="100015" name="Modules"/>
          <p:cNvSpPr txBox="1"/>
          <p:nvPr/>
        </p:nvSpPr>
        <p:spPr>
          <a:xfrm xmlns:a="http://schemas.openxmlformats.org/drawingml/2006/main">
            <a:off x="540000" y="3780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57606A"/>
                </a:solidFill>
              </a:rPr>
              <a:t>src/data/schema.js    •    src/engine/rulesEngine.js    •    src/engine/triageClassifier.js</a:t>
            </a:r>
          </a:p>
          <a:p xmlns:a="http://schemas.openxmlformats.org/drawingml/2006/main">
            <a:r>
              <a:rPr lang="en-US" sz="1200">
                <a:solidFill>
                  <a:srgbClr val="57606A"/>
                </a:solidFill>
              </a:rPr>
              <a:t>src/engine/epidemiology.js    •    src/reports/reportGenerator.js    •    dashboard.html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E2330"/>
        </a:solidFill>
      </p:bgPr>
    </p:bg>
    <p:spTree>
      <p:nvGrpSpPr>
        <p:cNvPr id="1" name=""/>
        <p:cNvGrpSpPr/>
        <p:nvPr/>
      </p:nvGrpSpPr>
      <p:grpSpPr/>
      <p:sp>
        <p:nvSpPr>
          <p:cNvPr id="100016" name="TopBar"/>
          <p:cNvSpPr txBox="1"/>
          <p:nvPr/>
        </p:nvSpPr>
        <p:spPr>
          <a:xfrm xmlns:a="http://schemas.openxmlformats.org/drawingml/2006/main">
            <a:off x="0" y="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017" name="SlideLabel"/>
          <p:cNvSpPr txBox="1"/>
          <p:nvPr/>
        </p:nvSpPr>
        <p:spPr>
          <a:xfrm xmlns:a="http://schemas.openxmlformats.org/drawingml/2006/main">
            <a:off x="540000" y="36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3B82D4"/>
                </a:solidFill>
              </a:rPr>
              <a:t>MODULE 1 — RULES ENGINE</a:t>
            </a:r>
          </a:p>
        </p:txBody>
      </p:sp>
      <p:sp>
        <p:nvSpPr>
          <p:cNvPr id="100018" name="Title"/>
          <p:cNvSpPr txBox="1"/>
          <p:nvPr/>
        </p:nvSpPr>
        <p:spPr>
          <a:xfrm xmlns:a="http://schemas.openxmlformats.org/drawingml/2006/main">
            <a:off x="540000" y="648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Multi-Factor Rules Engine</a:t>
            </a:r>
          </a:p>
        </p:txBody>
      </p:sp>
      <p:sp>
        <p:nvSpPr>
          <p:cNvPr id="100019" name="ColLeft"/>
          <p:cNvSpPr txBox="1"/>
          <p:nvPr/>
        </p:nvSpPr>
        <p:spPr>
          <a:xfrm xmlns:a="http://schemas.openxmlformats.org/drawingml/2006/main">
            <a:off x="540000" y="1332000"/>
            <a:ext cx="4860000" cy="30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VITAL FLAG CHECKS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Fever Warning  ≥ 38 °C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Fever Critical  ≥ 39 °C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SpO₂ Warning  &lt; 94 %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SpO₂ Critical  &lt; 92 %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Tachycardia Warn  ≥ 100 bpm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Tachycardia Crit  ≥ 120 bpm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Hypotension Crit  &lt; 90 mmHg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Hypertension Crit  ≥ 180 mmHg</a:t>
            </a:r>
          </a:p>
        </p:txBody>
      </p:sp>
      <p:sp>
        <p:nvSpPr>
          <p:cNvPr id="100020" name="ColMid"/>
          <p:cNvSpPr txBox="1"/>
          <p:nvPr/>
        </p:nvSpPr>
        <p:spPr>
          <a:xfrm xmlns:a="http://schemas.openxmlformats.org/drawingml/2006/main">
            <a:off x="5580000" y="1332000"/>
            <a:ext cx="5220000" cy="30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DISEASE MATCH SCORING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Composite =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Symptom Overlap × 45 %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+ Lab Criteria    × 35 %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+ Vital Threshold × 20 %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7 diseases in DISEASE_DB: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COVID-19  •  Influenza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Pneumonia  •  Sepsis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Diabetes T2  •  Hepatic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Renal Dysfunction</a:t>
            </a:r>
          </a:p>
        </p:txBody>
      </p:sp>
      <p:sp>
        <p:nvSpPr>
          <p:cNvPr id="100021" name="Footer"/>
          <p:cNvSpPr txBox="1"/>
          <p:nvPr/>
        </p:nvSpPr>
        <p:spPr>
          <a:xfrm xmlns:a="http://schemas.openxmlformats.org/drawingml/2006/main">
            <a:off x="540000" y="4608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57606A"/>
                </a:solidFill>
              </a:rPr>
              <a:t>Outbreak candidate flagged when: fever + resp distress, sudden-onset cluster ≥2, viral load ≥ 1,000, or CRP &gt; 10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E2330"/>
        </a:solidFill>
      </p:bgPr>
    </p:bg>
    <p:spTree>
      <p:nvGrpSpPr>
        <p:cNvPr id="1" name=""/>
        <p:cNvGrpSpPr/>
        <p:nvPr/>
      </p:nvGrpSpPr>
      <p:grpSpPr/>
      <p:sp>
        <p:nvSpPr>
          <p:cNvPr id="100022" name="TopBar"/>
          <p:cNvSpPr txBox="1"/>
          <p:nvPr/>
        </p:nvSpPr>
        <p:spPr>
          <a:xfrm xmlns:a="http://schemas.openxmlformats.org/drawingml/2006/main">
            <a:off x="0" y="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023" name="SlideLabel"/>
          <p:cNvSpPr txBox="1"/>
          <p:nvPr/>
        </p:nvSpPr>
        <p:spPr>
          <a:xfrm xmlns:a="http://schemas.openxmlformats.org/drawingml/2006/main">
            <a:off x="540000" y="36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3B82D4"/>
                </a:solidFill>
              </a:rPr>
              <a:t>MODULE 2 — TRIAGE CLASSIFIER</a:t>
            </a:r>
          </a:p>
        </p:txBody>
      </p:sp>
      <p:sp>
        <p:nvSpPr>
          <p:cNvPr id="100024" name="Title"/>
          <p:cNvSpPr txBox="1"/>
          <p:nvPr/>
        </p:nvSpPr>
        <p:spPr>
          <a:xfrm xmlns:a="http://schemas.openxmlformats.org/drawingml/2006/main">
            <a:off x="540000" y="648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Severity Scoring &amp; Triage</a:t>
            </a:r>
          </a:p>
        </p:txBody>
      </p:sp>
      <p:sp>
        <p:nvSpPr>
          <p:cNvPr id="100025" name="ScoreBreakdown"/>
          <p:cNvSpPr txBox="1"/>
          <p:nvPr/>
        </p:nvSpPr>
        <p:spPr>
          <a:xfrm xmlns:a="http://schemas.openxmlformats.org/drawingml/2006/main">
            <a:off x="540000" y="1296000"/>
            <a:ext cx="1080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9D1D9"/>
                </a:solidFill>
              </a:rPr>
              <a:t>0 – 100 SEVERITY SCORE COMPONENTS</a:t>
            </a:r>
          </a:p>
          <a:p xmlns:a="http://schemas.openxmlformats.org/drawingml/2006/main">
            <a:r>
              <a:rPr lang="en-US" sz="16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600">
                <a:solidFill>
                  <a:srgbClr val="C9D1D9"/>
                </a:solidFill>
              </a:rPr>
              <a:t>  SpO₂ weight          up to 40 pts    (SpO₂ &lt; 88 → 40 pts)</a:t>
            </a:r>
          </a:p>
          <a:p xmlns:a="http://schemas.openxmlformats.org/drawingml/2006/main">
            <a:r>
              <a:rPr lang="en-US" sz="1600">
                <a:solidFill>
                  <a:srgbClr val="C9D1D9"/>
                </a:solidFill>
              </a:rPr>
              <a:t>  Temperature         up to 30 pts    (≥ 40 °C → 30 pts)</a:t>
            </a:r>
          </a:p>
          <a:p xmlns:a="http://schemas.openxmlformats.org/drawingml/2006/main">
            <a:r>
              <a:rPr lang="en-US" sz="1600">
                <a:solidFill>
                  <a:srgbClr val="C9D1D9"/>
                </a:solidFill>
              </a:rPr>
              <a:t>  Heart Rate           up to 20 pts    (≥ 130 bpm → 20 pts)</a:t>
            </a:r>
          </a:p>
          <a:p xmlns:a="http://schemas.openxmlformats.org/drawingml/2006/main">
            <a:r>
              <a:rPr lang="en-US" sz="1600">
                <a:solidFill>
                  <a:srgbClr val="C9D1D9"/>
                </a:solidFill>
              </a:rPr>
              <a:t>  Blood Pressure      up to 30 pts    (&lt; 80 or ≥ 180 mmHg)</a:t>
            </a:r>
          </a:p>
          <a:p xmlns:a="http://schemas.openxmlformats.org/drawingml/2006/main">
            <a:r>
              <a:rPr lang="en-US" sz="1600">
                <a:solidFill>
                  <a:srgbClr val="C9D1D9"/>
                </a:solidFill>
              </a:rPr>
              <a:t>  Critical vital flag   + 10 pts each</a:t>
            </a:r>
          </a:p>
          <a:p xmlns:a="http://schemas.openxmlformats.org/drawingml/2006/main">
            <a:r>
              <a:rPr lang="en-US" sz="1600">
                <a:solidFill>
                  <a:srgbClr val="C9D1D9"/>
                </a:solidFill>
              </a:rPr>
              <a:t>  Critical lab flag       + 8 pts each</a:t>
            </a:r>
          </a:p>
          <a:p xmlns:a="http://schemas.openxmlformats.org/drawingml/2006/main">
            <a:r>
              <a:rPr lang="en-US" sz="1600">
                <a:solidFill>
                  <a:srgbClr val="C9D1D9"/>
                </a:solidFill>
              </a:rPr>
              <a:t>  Outbreak candidate  + 15 pts</a:t>
            </a:r>
          </a:p>
          <a:p xmlns:a="http://schemas.openxmlformats.org/drawingml/2006/main">
            <a:r>
              <a:rPr lang="en-US" sz="1600">
                <a:solidFill>
                  <a:srgbClr val="C9D1D9"/>
                </a:solidFill>
              </a:rPr>
              <a:t>  Critical infectious Dx  + 20 pts</a:t>
            </a:r>
          </a:p>
          <a:p xmlns:a="http://schemas.openxmlformats.org/drawingml/2006/main">
            <a:r>
              <a:rPr lang="en-US" sz="1600">
                <a:solidFill>
                  <a:srgbClr val="C9D1D9"/>
                </a:solidFill>
              </a:rPr>
              <a:t>  Pre-existing × multiplier  (COPD ×1.20, heart failure ×1.25)</a:t>
            </a:r>
          </a:p>
          <a:p xmlns:a="http://schemas.openxmlformats.org/drawingml/2006/main">
            <a:r>
              <a:rPr lang="en-US" sz="1600">
                <a:solidFill>
                  <a:srgbClr val="C9D1D9"/>
                </a:solidFill>
              </a:rPr>
              <a:t>  Age ≥ 70             + 10 pts  |  Age ≥ 60  + 5 pts</a:t>
            </a:r>
          </a:p>
        </p:txBody>
      </p:sp>
      <p:sp>
        <p:nvSpPr>
          <p:cNvPr id="100026" name="Thresholds"/>
          <p:cNvSpPr txBox="1"/>
          <p:nvPr/>
        </p:nvSpPr>
        <p:spPr>
          <a:xfrm xmlns:a="http://schemas.openxmlformats.org/drawingml/2006/main">
            <a:off x="540000" y="3960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CRITICAL  ≥ 65          MODERATE  35 – 64          LOW  &lt; 35</a:t>
            </a:r>
          </a:p>
        </p:txBody>
      </p:sp>
      <p:sp>
        <p:nvSpPr>
          <p:cNvPr id="100027" name="ActionPlan"/>
          <p:cNvSpPr txBox="1"/>
          <p:nvPr/>
        </p:nvSpPr>
        <p:spPr>
          <a:xfrm xmlns:a="http://schemas.openxmlformats.org/drawingml/2006/main">
            <a:off x="540000" y="4428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57606A"/>
                </a:solidFill>
              </a:rPr>
              <a:t>Actions auto-generated per tier  •  Critical: ICU alert + physician notify + blood cultures + contact tracing</a:t>
            </a:r>
          </a:p>
          <a:p xmlns:a="http://schemas.openxmlformats.org/drawingml/2006/main">
            <a:r>
              <a:rPr lang="en-US" sz="1200">
                <a:solidFill>
                  <a:srgbClr val="57606A"/>
                </a:solidFill>
              </a:rPr>
              <a:t>Moderate: Priority appt + lab order + telehealth  •  Low: Care instructions + OTC guidance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E2330"/>
        </a:solidFill>
      </p:bgPr>
    </p:bg>
    <p:spTree>
      <p:nvGrpSpPr>
        <p:cNvPr id="1" name=""/>
        <p:cNvGrpSpPr/>
        <p:nvPr/>
      </p:nvGrpSpPr>
      <p:grpSpPr/>
      <p:sp>
        <p:nvSpPr>
          <p:cNvPr id="100028" name="TopBar"/>
          <p:cNvSpPr txBox="1"/>
          <p:nvPr/>
        </p:nvSpPr>
        <p:spPr>
          <a:xfrm xmlns:a="http://schemas.openxmlformats.org/drawingml/2006/main">
            <a:off x="0" y="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029" name="SlideLabel"/>
          <p:cNvSpPr txBox="1"/>
          <p:nvPr/>
        </p:nvSpPr>
        <p:spPr>
          <a:xfrm xmlns:a="http://schemas.openxmlformats.org/drawingml/2006/main">
            <a:off x="540000" y="36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3B82D4"/>
                </a:solidFill>
              </a:rPr>
              <a:t>MODULE 3 — EPIDEMIOLOGY</a:t>
            </a:r>
          </a:p>
        </p:txBody>
      </p:sp>
      <p:sp>
        <p:nvSpPr>
          <p:cNvPr id="100030" name="Title"/>
          <p:cNvSpPr txBox="1"/>
          <p:nvPr/>
        </p:nvSpPr>
        <p:spPr>
          <a:xfrm xmlns:a="http://schemas.openxmlformats.org/drawingml/2006/main">
            <a:off x="540000" y="648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Regional Risk &amp; Outbreak Detection</a:t>
            </a:r>
          </a:p>
        </p:txBody>
      </p:sp>
      <p:sp>
        <p:nvSpPr>
          <p:cNvPr id="100031" name="RiskScore"/>
          <p:cNvSpPr txBox="1"/>
          <p:nvPr/>
        </p:nvSpPr>
        <p:spPr>
          <a:xfrm xmlns:a="http://schemas.openxmlformats.org/drawingml/2006/main">
            <a:off x="540000" y="1296000"/>
            <a:ext cx="648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OUTBREAK RISK SCORE  (0 – 100)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Incidence Rate Component    max 30 pts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(cases per 100,000 in trailing 14-day window)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Growth Velocity Component   max 40 pts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(last 7-day cases ÷ prior 7-day cases)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Surging &gt; 1.5×  •  Rising &gt; 1.1×  •  Stable  •  Declining &lt; 0.7×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Severity Composition         max 30 pts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(% critical cases in region)</a:t>
            </a:r>
          </a:p>
        </p:txBody>
      </p:sp>
      <p:sp>
        <p:nvSpPr>
          <p:cNvPr id="100032" name="Triggers"/>
          <p:cNvSpPr txBox="1"/>
          <p:nvPr/>
        </p:nvSpPr>
        <p:spPr>
          <a:xfrm xmlns:a="http://schemas.openxmlformats.org/drawingml/2006/main">
            <a:off x="7200000" y="1296000"/>
            <a:ext cx="432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CONTAINMENT TRIGGERS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Score ≥ 70: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🚨 Public Health Alert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🏥 Clinic Network Flag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🔍 Contact-Tracing Workflow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📦 Supply Pre-Positioning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Score ≥ 85: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📢 Mass Community Notification</a:t>
            </a:r>
          </a:p>
        </p:txBody>
      </p:sp>
      <p:sp>
        <p:nvSpPr>
          <p:cNvPr id="100033" name="Footer"/>
          <p:cNvSpPr txBox="1"/>
          <p:nvPr/>
        </p:nvSpPr>
        <p:spPr>
          <a:xfrm xmlns:a="http://schemas.openxmlformats.org/drawingml/2006/main">
            <a:off x="540000" y="4428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57606A"/>
                </a:solidFill>
              </a:rPr>
              <a:t>Regions tracked: Manhattan North, Manhattan South, Brooklyn West, Queens, Bronx, Staten Island  •  Population baseline per region for incidence rate calculation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E2330"/>
        </a:solidFill>
      </p:bgPr>
    </p:bg>
    <p:spTree>
      <p:nvGrpSpPr>
        <p:cNvPr id="1" name=""/>
        <p:cNvGrpSpPr/>
        <p:nvPr/>
      </p:nvGrpSpPr>
      <p:grpSpPr/>
      <p:sp>
        <p:nvSpPr>
          <p:cNvPr id="100034" name="TopBar"/>
          <p:cNvSpPr txBox="1"/>
          <p:nvPr/>
        </p:nvSpPr>
        <p:spPr>
          <a:xfrm xmlns:a="http://schemas.openxmlformats.org/drawingml/2006/main">
            <a:off x="0" y="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035" name="SlideLabel"/>
          <p:cNvSpPr txBox="1"/>
          <p:nvPr/>
        </p:nvSpPr>
        <p:spPr>
          <a:xfrm xmlns:a="http://schemas.openxmlformats.org/drawingml/2006/main">
            <a:off x="540000" y="36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3B82D4"/>
                </a:solidFill>
              </a:rPr>
              <a:t>SAMPLE DATASET</a:t>
            </a:r>
          </a:p>
        </p:txBody>
      </p:sp>
      <p:sp>
        <p:nvSpPr>
          <p:cNvPr id="100036" name="Title"/>
          <p:cNvSpPr txBox="1"/>
          <p:nvPr/>
        </p:nvSpPr>
        <p:spPr>
          <a:xfrm xmlns:a="http://schemas.openxmlformats.org/drawingml/2006/main">
            <a:off x="540000" y="648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10 Representative Patients</a:t>
            </a:r>
          </a:p>
        </p:txBody>
      </p:sp>
      <p:sp>
        <p:nvSpPr>
          <p:cNvPr id="100037" name="Table"/>
          <p:cNvSpPr txBox="1"/>
          <p:nvPr/>
        </p:nvSpPr>
        <p:spPr>
          <a:xfrm xmlns:a="http://schemas.openxmlformats.org/drawingml/2006/main">
            <a:off x="540000" y="1296000"/>
            <a:ext cx="1080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9D1D9"/>
                </a:solidFill>
              </a:rPr>
              <a:t>PT-001  Manhattan North   67 M   SpO₂ 87%  BP 88/55   COPD + Hypertension  →  CRITICAL   Sepsis</a:t>
            </a:r>
          </a:p>
          <a:p xmlns:a="http://schemas.openxmlformats.org/drawingml/2006/main">
            <a:r>
              <a:rPr lang="en-US" sz="1300">
                <a:solidFill>
                  <a:srgbClr val="C9D1D9"/>
                </a:solidFill>
              </a:rPr>
              <a:t>PT-002  Manhattan North   54 F   SpO₂ 90%  Viral 4500  Diabetes + Obesity    →  CRITICAL   COVID-19</a:t>
            </a:r>
          </a:p>
          <a:p xmlns:a="http://schemas.openxmlformats.org/drawingml/2006/main">
            <a:r>
              <a:rPr lang="en-US" sz="1300">
                <a:solidFill>
                  <a:srgbClr val="C9D1D9"/>
                </a:solidFill>
              </a:rPr>
              <a:t>PT-003  Manhattan South   72 M   SpO₂ 91%  BP 185/100  Heart Failure + CKD   →  CRITICAL   Renal Dx</a:t>
            </a:r>
          </a:p>
          <a:p xmlns:a="http://schemas.openxmlformats.org/drawingml/2006/main">
            <a:r>
              <a:rPr lang="en-US" sz="1300">
                <a:solidFill>
                  <a:srgbClr val="C9D1D9"/>
                </a:solidFill>
              </a:rPr>
              <a:t>PT-004  Brooklyn West       45 F   WBC 12.5  CRP 17       Prediabetes             →  MODERATE  Pneumonia</a:t>
            </a:r>
          </a:p>
          <a:p xmlns:a="http://schemas.openxmlformats.org/drawingml/2006/main">
            <a:r>
              <a:rPr lang="en-US" sz="1300">
                <a:solidFill>
                  <a:srgbClr val="C9D1D9"/>
                </a:solidFill>
              </a:rPr>
              <a:t>PT-005  Brooklyn West       38 M   Viral 2200  Loss of smell              (none)            →  MODERATE  COVID-19</a:t>
            </a:r>
          </a:p>
          <a:p xmlns:a="http://schemas.openxmlformats.org/drawingml/2006/main">
            <a:r>
              <a:rPr lang="en-US" sz="1300">
                <a:solidFill>
                  <a:srgbClr val="C9D1D9"/>
                </a:solidFill>
              </a:rPr>
              <a:t>PT-006  Queens                  58 F   ALT 78                        Fatty Liver              →  MODERATE  Hepatic Dx</a:t>
            </a:r>
          </a:p>
          <a:p xmlns:a="http://schemas.openxmlformats.org/drawingml/2006/main">
            <a:r>
              <a:rPr lang="en-US" sz="1300">
                <a:solidFill>
                  <a:srgbClr val="C9D1D9"/>
                </a:solidFill>
              </a:rPr>
              <a:t>PT-007  Bronx                     29 F   Mild fever  sore throat  (none)            →  LOW           Influenza</a:t>
            </a:r>
          </a:p>
          <a:p xmlns:a="http://schemas.openxmlformats.org/drawingml/2006/main">
            <a:r>
              <a:rPr lang="en-US" sz="1300">
                <a:solidFill>
                  <a:srgbClr val="C9D1D9"/>
                </a:solidFill>
              </a:rPr>
              <a:t>PT-008  Bronx                     33 M   Mild fever  body aches   (none)            →  LOW           Influenza</a:t>
            </a:r>
          </a:p>
          <a:p xmlns:a="http://schemas.openxmlformats.org/drawingml/2006/main">
            <a:r>
              <a:rPr lang="en-US" sz="1300">
                <a:solidFill>
                  <a:srgbClr val="C9D1D9"/>
                </a:solidFill>
              </a:rPr>
              <a:t>PT-009  Staten Island         42 F   HbA1c 7.1  Glucose 195   Hypertension   →  LOW           Diabetes T2</a:t>
            </a:r>
          </a:p>
          <a:p xmlns:a="http://schemas.openxmlformats.org/drawingml/2006/main">
            <a:r>
              <a:rPr lang="en-US" sz="1300">
                <a:solidFill>
                  <a:srgbClr val="C9D1D9"/>
                </a:solidFill>
              </a:rPr>
              <a:t>PT-010  Manhattan South   25 M   Sore throat  runny nose  (none)            →  LOW           Under eval.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E2330"/>
        </a:solidFill>
      </p:bgPr>
    </p:bg>
    <p:spTree>
      <p:nvGrpSpPr>
        <p:cNvPr id="1" name=""/>
        <p:cNvGrpSpPr/>
        <p:nvPr/>
      </p:nvGrpSpPr>
      <p:grpSpPr/>
      <p:sp>
        <p:nvSpPr>
          <p:cNvPr id="100038" name="TopBar"/>
          <p:cNvSpPr txBox="1"/>
          <p:nvPr/>
        </p:nvSpPr>
        <p:spPr>
          <a:xfrm xmlns:a="http://schemas.openxmlformats.org/drawingml/2006/main">
            <a:off x="0" y="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039" name="SlideLabel"/>
          <p:cNvSpPr txBox="1"/>
          <p:nvPr/>
        </p:nvSpPr>
        <p:spPr>
          <a:xfrm xmlns:a="http://schemas.openxmlformats.org/drawingml/2006/main">
            <a:off x="540000" y="36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3B82D4"/>
                </a:solidFill>
              </a:rPr>
              <a:t>LIVE DASHBOARD — 9 PAGES</a:t>
            </a:r>
          </a:p>
        </p:txBody>
      </p:sp>
      <p:sp>
        <p:nvSpPr>
          <p:cNvPr id="100040" name="Title"/>
          <p:cNvSpPr txBox="1"/>
          <p:nvPr/>
        </p:nvSpPr>
        <p:spPr>
          <a:xfrm xmlns:a="http://schemas.openxmlformats.org/drawingml/2006/main">
            <a:off x="540000" y="648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Dashboard Modules</a:t>
            </a:r>
          </a:p>
        </p:txBody>
      </p:sp>
      <p:sp>
        <p:nvSpPr>
          <p:cNvPr id="100041" name="ColLeft"/>
          <p:cNvSpPr txBox="1"/>
          <p:nvPr/>
        </p:nvSpPr>
        <p:spPr>
          <a:xfrm xmlns:a="http://schemas.openxmlformats.org/drawingml/2006/main">
            <a:off x="540000" y="1296000"/>
            <a:ext cx="504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1  Dashboard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KPI bar (Total Patients, Critical Alerts,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Active Outbreaks, High-Risk Zones)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Severity distribution bars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Top ICD-10 diagnoses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Critical alert feed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2  Patient Monitor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Filterable table sorted by severity score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Color-coded risk badges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Click-through patient detail modal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3  Regional Risk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Geographic heatmap (0–100 risk scores)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Velocity trend labels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Regional detail table</a:t>
            </a:r>
          </a:p>
        </p:txBody>
      </p:sp>
      <p:sp>
        <p:nvSpPr>
          <p:cNvPr id="100042" name="ColMid"/>
          <p:cNvSpPr txBox="1"/>
          <p:nvPr/>
        </p:nvSpPr>
        <p:spPr>
          <a:xfrm xmlns:a="http://schemas.openxmlformats.org/drawingml/2006/main">
            <a:off x="5760000" y="1296000"/>
            <a:ext cx="504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4  Containment Alerts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Per-region outbreak cards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All automated containment workflows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5  Reports &amp; Export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Epidemiological summary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ICD-10 frequency table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Containment log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One-click JSON &amp; CSV export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6  Add Patient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Full intake form with symptom chips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Live analysis &amp; result preview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7  CAPA  (ICH E6 §8)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Corrective/preventive action registry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Immutable audit trail</a:t>
            </a:r>
          </a:p>
        </p:txBody>
      </p:sp>
      <p:sp>
        <p:nvSpPr>
          <p:cNvPr id="100043" name="ColRight"/>
          <p:cNvSpPr txBox="1"/>
          <p:nvPr/>
        </p:nvSpPr>
        <p:spPr>
          <a:xfrm xmlns:a="http://schemas.openxmlformats.org/drawingml/2006/main">
            <a:off x="5760000" y="3312000"/>
            <a:ext cx="5040000" cy="15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8  ICH E6 GCP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CTCAE Grade 1–5 auto-mapping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SAE reporting timelines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Regulatory obligation details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9  Reminders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−1 day pre-admission alerts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+2 day post-treatment follow-up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Custom reminder scheduler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Mark-as-sent workflow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E2330"/>
        </a:solidFill>
      </p:bgPr>
    </p:bg>
    <p:spTree>
      <p:nvGrpSpPr>
        <p:cNvPr id="1" name=""/>
        <p:cNvGrpSpPr/>
        <p:nvPr/>
      </p:nvGrpSpPr>
      <p:grpSpPr/>
      <p:sp>
        <p:nvSpPr>
          <p:cNvPr id="100044" name="TopBar"/>
          <p:cNvSpPr txBox="1"/>
          <p:nvPr/>
        </p:nvSpPr>
        <p:spPr>
          <a:xfrm xmlns:a="http://schemas.openxmlformats.org/drawingml/2006/main">
            <a:off x="0" y="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045" name="SlideLabel"/>
          <p:cNvSpPr txBox="1"/>
          <p:nvPr/>
        </p:nvSpPr>
        <p:spPr>
          <a:xfrm xmlns:a="http://schemas.openxmlformats.org/drawingml/2006/main">
            <a:off x="540000" y="36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3B82D4"/>
                </a:solidFill>
              </a:rPr>
              <a:t>GCP &amp; CAPA COMPLIANCE</a:t>
            </a:r>
          </a:p>
        </p:txBody>
      </p:sp>
      <p:sp>
        <p:nvSpPr>
          <p:cNvPr id="100046" name="Title"/>
          <p:cNvSpPr txBox="1"/>
          <p:nvPr/>
        </p:nvSpPr>
        <p:spPr>
          <a:xfrm xmlns:a="http://schemas.openxmlformats.org/drawingml/2006/main">
            <a:off x="540000" y="648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ICH E6 GCP &amp; CAPA Module</a:t>
            </a:r>
          </a:p>
        </p:txBody>
      </p:sp>
      <p:sp>
        <p:nvSpPr>
          <p:cNvPr id="100047" name="GCPLeft"/>
          <p:cNvSpPr txBox="1"/>
          <p:nvPr/>
        </p:nvSpPr>
        <p:spPr>
          <a:xfrm xmlns:a="http://schemas.openxmlformats.org/drawingml/2006/main">
            <a:off x="540000" y="1296000"/>
            <a:ext cx="504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CTCAE GRADING  (auto-mapped from severity score)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Grade 1 — Mild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  Score &lt; 30  •  Source document only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  Reporting: Per scheduled visit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Grade 2 — Moderate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  Score 30–54  •  Physician review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  Reporting: Within 7 days (routine)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Grade 3 — Severe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  Score 55–74  •  Expedited IND report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  Reporting: Within 15 days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Grade 4 — Life-Threatening (SAE)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  Score 75+  •  SAE mandatory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  Reporting: Within 7 days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Grade 5 — Death / Fatal Risk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  Score 95+  •  Immediate regulatory notify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  Reporting: Within 24 hours</a:t>
            </a:r>
          </a:p>
        </p:txBody>
      </p:sp>
      <p:sp>
        <p:nvSpPr>
          <p:cNvPr id="100048" name="CAPARight"/>
          <p:cNvSpPr txBox="1"/>
          <p:nvPr/>
        </p:nvSpPr>
        <p:spPr>
          <a:xfrm xmlns:a="http://schemas.openxmlformats.org/drawingml/2006/main">
            <a:off x="5760000" y="1296000"/>
            <a:ext cx="540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CAPA REGISTRY  (ICH E6 §8 Audit-Ready)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Auto-seeded from Critical/Grade ≥ 3 patients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CAPA types: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  Corrective Action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  Preventive Action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  Protocol Deviation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  Adverse Event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  Near Miss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Statuses: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  Open  •  In Progress  •  Closed  •  Overdue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Each CAPA has: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  •  Timeline of status changes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  •  Root cause field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  •  Assignee &amp; due date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  •  GCP grade link</a:t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C9D1D9"/>
                </a:solidFill>
              </a:rPr>
              <a:t>Audit trail: immutable timestamped event log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E2330"/>
        </a:solidFill>
      </p:bgPr>
    </p:bg>
    <p:spTree>
      <p:nvGrpSpPr>
        <p:cNvPr id="1" name=""/>
        <p:cNvGrpSpPr/>
        <p:nvPr/>
      </p:nvGrpSpPr>
      <p:grpSpPr/>
      <p:sp>
        <p:nvSpPr>
          <p:cNvPr id="100049" name="TopBar"/>
          <p:cNvSpPr txBox="1"/>
          <p:nvPr/>
        </p:nvSpPr>
        <p:spPr>
          <a:xfrm xmlns:a="http://schemas.openxmlformats.org/drawingml/2006/main">
            <a:off x="0" y="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050" name="SlideLabel"/>
          <p:cNvSpPr txBox="1"/>
          <p:nvPr/>
        </p:nvSpPr>
        <p:spPr>
          <a:xfrm xmlns:a="http://schemas.openxmlformats.org/drawingml/2006/main">
            <a:off x="540000" y="36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3B82D4"/>
                </a:solidFill>
              </a:rPr>
              <a:t>DISEASE REFERENCE DATABASE</a:t>
            </a:r>
          </a:p>
        </p:txBody>
      </p:sp>
      <p:sp>
        <p:nvSpPr>
          <p:cNvPr id="100051" name="Title"/>
          <p:cNvSpPr txBox="1"/>
          <p:nvPr/>
        </p:nvSpPr>
        <p:spPr>
          <a:xfrm xmlns:a="http://schemas.openxmlformats.org/drawingml/2006/main">
            <a:off x="540000" y="648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7-Disease Knowledge Base</a:t>
            </a:r>
          </a:p>
        </p:txBody>
      </p:sp>
      <p:sp>
        <p:nvSpPr>
          <p:cNvPr id="100052" name="DiseaseTable"/>
          <p:cNvSpPr txBox="1"/>
          <p:nvPr/>
        </p:nvSpPr>
        <p:spPr>
          <a:xfrm xmlns:a="http://schemas.openxmlformats.org/drawingml/2006/main">
            <a:off x="540000" y="1296000"/>
            <a:ext cx="1080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C9D1D9"/>
                </a:solidFill>
              </a:rPr>
              <a:t>DISEASE           TYPE                  ICD-10   KEY LAB CRITERIA              VITAL THRESHOLDS</a:t>
            </a:r>
          </a:p>
          <a:p xmlns:a="http://schemas.openxmlformats.org/drawingml/2006/main">
            <a:r>
              <a:rPr lang="en-US" sz="13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C9D1D9"/>
                </a:solidFill>
              </a:rPr>
              <a:t>COVID-19          infectious             U07.1    WBC &lt; 4.0, CRP &gt; 10, VL &gt; 1K  Temp ≥ 39°C, SpO₂ &lt; 92%, HR ≥ 120</a:t>
            </a:r>
          </a:p>
          <a:p xmlns:a="http://schemas.openxmlformats.org/drawingml/2006/main">
            <a:r>
              <a:rPr lang="en-US" sz="1300">
                <a:solidFill>
                  <a:srgbClr val="C9D1D9"/>
                </a:solidFill>
              </a:rPr>
              <a:t>Influenza           infectious             J11       WBC &lt; 4.0                          Temp ≥ 39.5°C, SpO₂ &lt; 92%</a:t>
            </a:r>
          </a:p>
          <a:p xmlns:a="http://schemas.openxmlformats.org/drawingml/2006/main">
            <a:r>
              <a:rPr lang="en-US" sz="1300">
                <a:solidFill>
                  <a:srgbClr val="C9D1D9"/>
                </a:solidFill>
              </a:rPr>
              <a:t>Pneumonia         infectious             J18.9    WBC &gt; 11, CRP &gt; 15              Temp ≥ 39°C, SpO₂ &lt; 92%, HR ≥ 125</a:t>
            </a:r>
          </a:p>
          <a:p xmlns:a="http://schemas.openxmlformats.org/drawingml/2006/main">
            <a:r>
              <a:rPr lang="en-US" sz="1300">
                <a:solidFill>
                  <a:srgbClr val="C9D1D9"/>
                </a:solidFill>
              </a:rPr>
              <a:t>Sepsis                critical_infectious  A41.9    WBC &gt; 12, CRP &gt; 20              Temp ≥ 38.3°C, HR &gt; 90, BP &lt; 90</a:t>
            </a:r>
          </a:p>
          <a:p xmlns:a="http://schemas.openxmlformats.org/drawingml/2006/main">
            <a:r>
              <a:rPr lang="en-US" sz="1300">
                <a:solidFill>
                  <a:srgbClr val="C9D1D9"/>
                </a:solidFill>
              </a:rPr>
              <a:t>Type 2 Diabetes  chronic                E11       HbA1c ≥ 6.5%, Glucose ≥ 200   BP ≥ 180 mmHg (systolic)</a:t>
            </a:r>
          </a:p>
          <a:p xmlns:a="http://schemas.openxmlformats.org/drawingml/2006/main">
            <a:r>
              <a:rPr lang="en-US" sz="1300">
                <a:solidFill>
                  <a:srgbClr val="C9D1D9"/>
                </a:solidFill>
              </a:rPr>
              <a:t>Hepatic Dysfn.    chronic                K76.9    ALT &gt; 56 U/L                       (none defined)</a:t>
            </a:r>
          </a:p>
          <a:p xmlns:a="http://schemas.openxmlformats.org/drawingml/2006/main">
            <a:r>
              <a:rPr lang="en-US" sz="1300">
                <a:solidFill>
                  <a:srgbClr val="C9D1D9"/>
                </a:solidFill>
              </a:rPr>
              <a:t>Renal Dysfunction  chronic              N18       Creatinine &gt; 1.3 mg/dL          BP ≥ 180 mmHg (systolic)</a:t>
            </a:r>
          </a:p>
        </p:txBody>
      </p:sp>
      <p:sp>
        <p:nvSpPr>
          <p:cNvPr id="100053" name="LabRanges"/>
          <p:cNvSpPr txBox="1"/>
          <p:nvPr/>
        </p:nvSpPr>
        <p:spPr>
          <a:xfrm xmlns:a="http://schemas.openxmlformats.org/drawingml/2006/main">
            <a:off x="540000" y="4176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57606A"/>
                </a:solidFill>
              </a:rPr>
              <a:t>LAB REFERENCE RANGES  —  WBC 4.5–11.0 × 10³/µL  |  HbA1c 4.0–5.6%  |  Glucose 70–99 mg/dL  |  ALT 7–56 U/L  |  Creatinine 0.7–1.3 mg/dL  |  CRP 0–3 mg/L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E2330"/>
        </a:solidFill>
      </p:bgPr>
    </p:bg>
    <p:spTree>
      <p:nvGrpSpPr>
        <p:cNvPr id="1" name=""/>
        <p:cNvGrpSpPr/>
        <p:nvPr/>
      </p:nvGrpSpPr>
      <p:grpSpPr/>
      <p:sp>
        <p:nvSpPr>
          <p:cNvPr id="100054" name="TopBar"/>
          <p:cNvSpPr txBox="1"/>
          <p:nvPr/>
        </p:nvSpPr>
        <p:spPr>
          <a:xfrm xmlns:a="http://schemas.openxmlformats.org/drawingml/2006/main">
            <a:off x="0" y="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055" name="SlideLabel"/>
          <p:cNvSpPr txBox="1"/>
          <p:nvPr/>
        </p:nvSpPr>
        <p:spPr>
          <a:xfrm xmlns:a="http://schemas.openxmlformats.org/drawingml/2006/main">
            <a:off x="540000" y="36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3B82D4"/>
                </a:solidFill>
              </a:rPr>
              <a:t>REMINDERS &amp; EXPORTS</a:t>
            </a:r>
          </a:p>
        </p:txBody>
      </p:sp>
      <p:sp>
        <p:nvSpPr>
          <p:cNvPr id="100056" name="Title"/>
          <p:cNvSpPr txBox="1"/>
          <p:nvPr/>
        </p:nvSpPr>
        <p:spPr>
          <a:xfrm xmlns:a="http://schemas.openxmlformats.org/drawingml/2006/main">
            <a:off x="540000" y="648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Reminders &amp; Report Exports</a:t>
            </a:r>
          </a:p>
        </p:txBody>
      </p:sp>
      <p:sp>
        <p:nvSpPr>
          <p:cNvPr id="100057" name="Reminders"/>
          <p:cNvSpPr txBox="1"/>
          <p:nvPr/>
        </p:nvSpPr>
        <p:spPr>
          <a:xfrm xmlns:a="http://schemas.openxmlformats.org/drawingml/2006/main">
            <a:off x="540000" y="1296000"/>
            <a:ext cx="5040000" cy="3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HOSPITAL REMINDER SCHEDULER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−1 Day  Pre-Admission Alert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Sent to hospital 1 day before appointment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Includes: vitals summary, suspected Dx, ICU pre-auth if critical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Day 0  Admission Day Alert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Real-time summary with full triage classification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+2 Days  Post-Treatment Follow-Up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Lab re-check orders + outcome assessment request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Custom Reminder: any type, any date, any hospital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Statuses: Pending  •  Sent  •  Overdue  •  Scheduled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Bulk mark-as-sent action available</a:t>
            </a:r>
          </a:p>
        </p:txBody>
      </p:sp>
      <p:sp>
        <p:nvSpPr>
          <p:cNvPr id="100058" name="Exports"/>
          <p:cNvSpPr txBox="1"/>
          <p:nvPr/>
        </p:nvSpPr>
        <p:spPr>
          <a:xfrm xmlns:a="http://schemas.openxmlformats.org/drawingml/2006/main">
            <a:off x="5760000" y="1296000"/>
            <a:ext cx="5400000" cy="3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REPORT EXPORTS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JSON — Public Health Report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•  Report type &amp; generated timestamp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•  Summary: totals per severity tier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•  Regional breakdown with velocity &amp; risk scores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•  Case summary log (all 10 patients)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•  ICD-10 code frequency table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•  All active containment action logs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CSV — Patient Case Log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•  14 columns per patient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•  PatientID, Age, Gender, Region, ZIP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•  Severity, SeverityScore, PrimaryDx, ICD-10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  •  IsOutbreakCandidate, CriticalVitalFlags</a:t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C9D1D9"/>
                </a:solidFill>
              </a:rPr>
              <a:t>Print Summary (browser print dialog)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E2330"/>
        </a:solidFill>
      </p:bgPr>
    </p:bg>
    <p:spTree>
      <p:nvGrpSpPr>
        <p:cNvPr id="1" name=""/>
        <p:cNvGrpSpPr/>
        <p:nvPr/>
      </p:nvGrpSpPr>
      <p:grpSpPr/>
      <p:sp>
        <p:nvSpPr>
          <p:cNvPr id="100059" name="TopBar"/>
          <p:cNvSpPr txBox="1"/>
          <p:nvPr/>
        </p:nvSpPr>
        <p:spPr>
          <a:xfrm xmlns:a="http://schemas.openxmlformats.org/drawingml/2006/main">
            <a:off x="0" y="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060" name="SlideLabel"/>
          <p:cNvSpPr txBox="1"/>
          <p:nvPr/>
        </p:nvSpPr>
        <p:spPr>
          <a:xfrm xmlns:a="http://schemas.openxmlformats.org/drawingml/2006/main">
            <a:off x="540000" y="36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3B82D4"/>
                </a:solidFill>
              </a:rPr>
              <a:t>SUMMARY</a:t>
            </a:r>
          </a:p>
        </p:txBody>
      </p:sp>
      <p:sp>
        <p:nvSpPr>
          <p:cNvPr id="100061" name="Title"/>
          <p:cNvSpPr txBox="1"/>
          <p:nvPr/>
        </p:nvSpPr>
        <p:spPr>
          <a:xfrm xmlns:a="http://schemas.openxmlformats.org/drawingml/2006/main">
            <a:off x="540000" y="648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100062" name="Takeaways"/>
          <p:cNvSpPr txBox="1"/>
          <p:nvPr/>
        </p:nvSpPr>
        <p:spPr>
          <a:xfrm xmlns:a="http://schemas.openxmlformats.org/drawingml/2006/main">
            <a:off x="540000" y="1296000"/>
            <a:ext cx="10800000" cy="3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34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>✦  Zero-dependency — open dashboard.html in any browser; no server, no install</a:t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>✦  End-to-end pipeline — intake → rules engine → triage → regional risk in one page load</a:t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>✦  Clinical-grade scoring — 0–100 severity score with 9 weighted components and multipliers</a:t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>✦  7-disease knowledge base — COVID-19, Influenza, Pneumonia, Sepsis, Diabetes T2, Hepatic, Renal</a:t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>✦  Outbreak intelligence — 14-day velocity tracking, 0–100 risk score, 4 auto-containment triggers</a:t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>✦  Regulatory ready — ICH E6 GCP CTCAE grading, SAE flags, CAPA registry, immutable audit trail</a:t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>✦  Operational tools — hospital reminder scheduler, live patient form, JSON + CSV exports</a:t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C9D1D9"/>
                </a:solidFill>
              </a:rPr>
              <a:t>✦  Extensible — all modules are in separate src/ files; add new diseases or rules with no HTML changes</a:t>
            </a:r>
          </a:p>
        </p:txBody>
      </p:sp>
      <p:sp>
        <p:nvSpPr>
          <p:cNvPr id="100063" name="BottomBar"/>
          <p:cNvSpPr txBox="1"/>
          <p:nvPr/>
        </p:nvSpPr>
        <p:spPr>
          <a:xfrm xmlns:a="http://schemas.openxmlformats.org/drawingml/2006/main">
            <a:off x="540000" y="4896000"/>
            <a:ext cx="108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57606A"/>
                </a:solidFill>
              </a:rPr>
              <a:t>disease-tracker/dashboard.html  •  MedTrack v2.0  •  ICH E6 GCP Aligned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2026-09-18T16:11:08Z</dcterms:created>
  <cp:lastModifiedBy>OfficeCLI</cp:lastModifiedBy>
  <dcterms:modified xsi:type="dcterms:W3CDTF">2026-09-18T16:11:08Z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2026-09-18T16:11:09Z</vt:lpwstr>
  </op:property>
</op:Properties>
</file>